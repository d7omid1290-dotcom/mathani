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الشرائح 1 إلى 7 دليل للمشارك. احذفها من نسخة العرض النهائية. تبدأ النماذج القابلة للتعبئة من الشريحة 8. احتفظ بالنسخة الأصلية مرجعًا.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21" name="Google Shape;32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افتح ملف PPTX ثم استخدم حفظ باسم. ملف POTX ينشئ عرضًا جديدًا عند فتحه بالطريقة المعتادة. لنسخ نموذج، انقر بزر الفأرة الأيمن على مصغّر الشريحة واختر تكرار الشريحة. عند النسخ إلى ملف آخر اختر الاحتفاظ بتنسيق المصدر. من الصفحة الرئيسية اختر تخطيط للوصول إلى تخطيطات القالب.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36" name="Google Shape;33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هذه مكتبة تخطيطات وليست قائمة إلزامية لعرض المشروع. اختر منها ما يخدم الفكرة. عند استخدام الشريحة الفارغة حافظ على هوامش تقارب 110 بكسل، ولا تضع محتوى فوق الشعار أو التذييل.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60" name="Google Shape;36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مقاس الشريحة 16:9 كما في الملفين المرفقين. مقاسات النصوص هنا تتناسب مع مقاس لوحة 1920 × 1080 المستخدم في المصدر. حافظ على محاذاة النص العربي إلى اليمين واتجاهه من اليمين إلى اليسار. اللون التركواز للتأكيد على الخلفية الداكنة، والبنفسجي مناسب للتأكيد على الخلفية الفاتحة. لا تغيّر نسب الشعارات أو ألوانها.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85" name="Google Shape;38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انقر داخل النص لتعديله. عند لصق محتوى من مصدر آخر، استخدم الاحتفاظ بالنص فقط. العناصر الموسومة «صورة» هي عناصر نائبة للصور في تخطيطات النماذج. يمكن حذفها عند عدم الحاجة. الشعار والخلفية والتذييل مثبتة في التخطيط لحمايتها أثناء العمل اليومي. لتعديلها على مستوى القالب استخدم عرض ثم الشريحة الرئيسية، ويُفضّل إبقاؤها كما هي.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12" name="Google Shape;41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لإدراج صورة: انقر أيقونة الصورة داخل العنصر النائب واختر ملفًا محليًا. لاستبدال صورة موجودة: زر الفأرة الأيمن ثم تغيير الصورة. لضبط القص: تنسيق الصورة ثم قص. لتعديل جدول: انقر داخل الخلية واستخدم تبويبي تصميم الجدول وتخطيطه. لتعديل الرسم: زر الفأرة الأيمن ثم تحرير البيانات. القيم الافتراضية للأعمدة 20، 35، 50، 65 والنسب 40، 30، 20، 10 أمثلة فقط. لا تستخدمها كحقائق عن التحدي أو مشروعك.</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37" name="Google Shape;43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الترتيب المقترح إرشادي. لم يُحدّد هذا القالب مدة العرض أو عدد الشرائح أو موعد التسليم. اتبع تعليمات المنظم الخاصة بالمشاركة. راجع العرض في وضع عرض الشرائح، ثم احفظ نسخة PPTX. صدّر PDF إذا طُلب منك.</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57" name="Google Shape;45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مثاني تطبيق جوال يرافق الحافظ: يفهم المعنى، ويسمّع، ويعالج أخطاءه، ويراجع بحسبها.</a:t>
            </a: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ستة أقسام: المشكلة والحل، التسميع والمتشابهات، الموثوقية، الخطة والفريق، بيانات المحتوى، مكونات الحل.</a:t>
            </a:r>
          </a:p>
        </p:txBody>
      </p:sp>
      <p:sp>
        <p:nvSpPr>
          <p:cNvPr id="496" name="Google Shape;49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القسم الأول: المشكلة التي يعالجها مثاني، وفكرة الحل.</a:t>
            </a:r>
          </a:p>
        </p:txBody>
      </p:sp>
      <p:sp>
        <p:nvSpPr>
          <p:cNvPr id="524" name="Google Shape;52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هذه المشكلات وصف لواقع الحفظ الفردي، وليست نتائج استبيان.</a:t>
            </a: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الفكرة: ربط الحفظ بالفهم، وجعل المراجعة مبنية على أخطاء الطالب الفعلية.</a:t>
            </a:r>
          </a:p>
        </p:txBody>
      </p:sp>
      <p:sp>
        <p:nvSpPr>
          <p:cNvPr id="554" name="Google Shape;55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لقطتان من التطبيق: نتيجة تسميع سورة الملك، ونافذة الآية مع متشابهاتها.</a:t>
            </a: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الأخضر صحيح، والأحمر موضع خطأ. التعرف على الكلام يتم في المتصفح.</a:t>
            </a: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أرقام محسوبة من بيانات التطبيق نفسها، وليست مؤشرات استخدام.</a:t>
            </a: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هذا المبدأ يحكم كل أجزاء التطبيق، ومنها المساعد القرآني.</a:t>
            </a:r>
          </a:p>
        </p:txBody>
      </p:sp>
      <p:sp>
        <p:nvSpPr>
          <p:cNvPr id="624" name="Google Shape;62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لا يولّد مثاني أي تفسير أو استنباط أثناء الاستخدام.</a:t>
            </a: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المرحلة الأولى منجزة ومنشورة. بقية المراحل مقترحة.</a:t>
            </a: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فريق إتقان: يزن عبدالله العوبثاني، وعبدالرحمن سعيد مسعود.</a:t>
            </a: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الفئات المستهدفة بحسب تصميم التطبيق، وليست نتائج استبيان.</a:t>
            </a:r>
          </a:p>
        </p:txBody>
      </p:sp>
      <p:sp>
        <p:nvSpPr>
          <p:cNvPr id="707" name="Google Shape;70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هذه مهام مقترحة، والمسؤول عنها فريق إتقان.</a:t>
            </a:r>
          </a:p>
        </p:txBody>
      </p:sp>
      <p:sp>
        <p:nvSpPr>
          <p:cNvPr id="726" name="Google Shape;7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a608e3085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8" name="Google Shape;738;g3fa608e3085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نسبة الآيات التي لها متشابه في فهرس مثاني داخل كل ستة أجزاء، والجزء محدد بصفحة بدايته في مصحف المدينة. القيم: 37، 30، 22، 25، 15.</a:t>
            </a:r>
          </a:p>
        </p:txBody>
      </p:sp>
      <p:sp>
        <p:nvSpPr>
          <p:cNvPr id="739" name="Google Shape;739;g3fa608e3085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9" name="Google Shape;78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من 1,481 آية لها متشابه: 456 في الأجزاء 1–10، و507 في 11–20، و518 في 21–30.</a:t>
            </a:r>
          </a:p>
        </p:txBody>
      </p:sp>
      <p:sp>
        <p:nvSpPr>
          <p:cNvPr id="790" name="Google Shape;790;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التعرف على الكلام يتم في المتصفح، ثم يقارن مثاني ما قرأه الطالب بنص المصحف ويحدد الإسقاط والإبدال والزيادة والانتقال إلى متشابه.</a:t>
            </a: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لقطات حقيقية من التطبيق.</a:t>
            </a:r>
          </a:p>
        </p:txBody>
      </p:sp>
      <p:sp>
        <p:nvSpPr>
          <p:cNvPr id="830" name="Google Shape;830;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لقطات حقيقية من النسخة المنشورة.</a:t>
            </a:r>
          </a:p>
        </p:txBody>
      </p:sp>
      <p:sp>
        <p:nvSpPr>
          <p:cNvPr id="840" name="Google Shape;8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أوضاع المساعد: تعلم، سمّعني، راجعني، تدبر، خطتي. وفيه مكالمة صوتية متواصلة.</a:t>
            </a: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مقارنة منصفة: مثاني مكمّل للمعلّم وليس بديلاً عنه.</a:t>
            </a: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تتغير لغة الواجهة من حسابي، ويبقى نص المصحف والتفسير بالعربية.</a:t>
            </a:r>
          </a:p>
        </p:txBody>
      </p:sp>
      <p:sp>
        <p:nvSpPr>
          <p:cNvPr id="896" name="Google Shape;896;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المراجعة المتباعدة تُجدول من أخطاء التسميع الفعلية.</a:t>
            </a:r>
          </a:p>
        </p:txBody>
      </p:sp>
      <p:sp>
        <p:nvSpPr>
          <p:cNvPr id="904" name="Google Shape;904;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شكراً لكم.</a:t>
            </a: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0.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7.png"/><Relationship Id="rId7"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322" name="Shape 322"/>
        <p:cNvGrpSpPr/>
        <p:nvPr/>
      </p:nvGrpSpPr>
      <p:grpSpPr>
        <a:xfrm>
          <a:off x="0" y="0"/>
          <a:ext cx="0" cy="0"/>
          <a:chOff x="0" y="0"/>
          <a:chExt cx="0" cy="0"/>
        </a:xfrm>
      </p:grpSpPr>
      <p:pic>
        <p:nvPicPr>
          <p:cNvPr id="323" name="Google Shape;323;p1"/>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24" name="Google Shape;324;p1"/>
          <p:cNvPicPr preferRelativeResize="0"/>
          <p:nvPr/>
        </p:nvPicPr>
        <p:blipFill rotWithShape="1">
          <a:blip r:embed="rId4">
            <a:alphaModFix/>
          </a:blip>
          <a:srcRect b="0" l="0" r="0" t="0"/>
          <a:stretch/>
        </p:blipFill>
        <p:spPr>
          <a:xfrm>
            <a:off x="1078250" y="691134"/>
            <a:ext cx="6572252" cy="1684781"/>
          </a:xfrm>
          <a:prstGeom prst="rect">
            <a:avLst/>
          </a:prstGeom>
          <a:noFill/>
          <a:ln>
            <a:noFill/>
          </a:ln>
        </p:spPr>
      </p:pic>
      <p:pic>
        <p:nvPicPr>
          <p:cNvPr id="325" name="Google Shape;325;p1"/>
          <p:cNvPicPr preferRelativeResize="0"/>
          <p:nvPr/>
        </p:nvPicPr>
        <p:blipFill rotWithShape="1">
          <a:blip r:embed="rId5">
            <a:alphaModFix/>
          </a:blip>
          <a:srcRect b="0" l="0" r="0" t="0"/>
          <a:stretch/>
        </p:blipFill>
        <p:spPr>
          <a:xfrm>
            <a:off x="14938404" y="944646"/>
            <a:ext cx="1891696" cy="1195990"/>
          </a:xfrm>
          <a:prstGeom prst="rect">
            <a:avLst/>
          </a:prstGeom>
          <a:noFill/>
          <a:ln>
            <a:noFill/>
          </a:ln>
        </p:spPr>
      </p:pic>
      <p:pic>
        <p:nvPicPr>
          <p:cNvPr id="326" name="Google Shape;326;p1" title="الصورة الرئيسية.png"/>
          <p:cNvPicPr preferRelativeResize="0"/>
          <p:nvPr/>
        </p:nvPicPr>
        <p:blipFill>
          <a:blip r:embed="rId6">
            <a:alphaModFix/>
          </a:blip>
          <a:stretch>
            <a:fillRect/>
          </a:stretch>
        </p:blipFill>
        <p:spPr>
          <a:xfrm>
            <a:off x="195975" y="1103475"/>
            <a:ext cx="9312476" cy="8603123"/>
          </a:xfrm>
          <a:prstGeom prst="rect">
            <a:avLst/>
          </a:prstGeom>
          <a:noFill/>
          <a:ln>
            <a:noFill/>
          </a:ln>
        </p:spPr>
      </p:pic>
      <p:sp>
        <p:nvSpPr>
          <p:cNvPr id="327" name="Google Shape;327;p1"/>
          <p:cNvSpPr/>
          <p:nvPr/>
        </p:nvSpPr>
        <p:spPr>
          <a:xfrm>
            <a:off x="10969893" y="9120200"/>
            <a:ext cx="58602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اقرأ الدليل، ثم احذف شرائحه قبل إرسال عرضك.</a:t>
            </a:r>
            <a:endParaRPr sz="1950">
              <a:solidFill>
                <a:srgbClr val="8E99CC"/>
              </a:solidFill>
              <a:latin typeface="Readex Pro Light"/>
              <a:ea typeface="Readex Pro Light"/>
              <a:cs typeface="Readex Pro Light"/>
              <a:sym typeface="Readex Pro Light"/>
            </a:endParaRPr>
          </a:p>
        </p:txBody>
      </p:sp>
      <p:sp>
        <p:nvSpPr>
          <p:cNvPr id="328" name="Google Shape;328;p1"/>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329" name="Google Shape;329;p1"/>
          <p:cNvSpPr/>
          <p:nvPr/>
        </p:nvSpPr>
        <p:spPr>
          <a:xfrm>
            <a:off x="7696200" y="3429000"/>
            <a:ext cx="9144000" cy="15240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5850">
                <a:solidFill>
                  <a:srgbClr val="F2F4FF"/>
                </a:solidFill>
                <a:latin typeface="Readex Pro"/>
                <a:ea typeface="Readex Pro"/>
                <a:cs typeface="Readex Pro"/>
                <a:sym typeface="Readex Pro"/>
              </a:rPr>
              <a:t>قالب عروض المشاركين</a:t>
            </a:r>
            <a:endParaRPr/>
          </a:p>
        </p:txBody>
      </p:sp>
      <p:sp>
        <p:nvSpPr>
          <p:cNvPr id="330" name="Google Shape;330;p1"/>
          <p:cNvSpPr/>
          <p:nvPr/>
        </p:nvSpPr>
        <p:spPr>
          <a:xfrm>
            <a:off x="7696200" y="5191125"/>
            <a:ext cx="9144000" cy="904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3150">
                <a:solidFill>
                  <a:srgbClr val="2EF2C2"/>
                </a:solidFill>
                <a:latin typeface="Readex Pro"/>
                <a:ea typeface="Readex Pro"/>
                <a:cs typeface="Readex Pro"/>
                <a:sym typeface="Readex Pro"/>
              </a:rPr>
              <a:t>دليل الاستخدام والنماذج الجاهزة</a:t>
            </a:r>
            <a:endParaRPr/>
          </a:p>
        </p:txBody>
      </p:sp>
      <p:sp>
        <p:nvSpPr>
          <p:cNvPr id="331" name="Google Shape;331;p1"/>
          <p:cNvSpPr/>
          <p:nvPr/>
        </p:nvSpPr>
        <p:spPr>
          <a:xfrm>
            <a:off x="10874775" y="6619875"/>
            <a:ext cx="5965500" cy="12702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None/>
            </a:pPr>
            <a:r>
              <a:rPr b="0" lang="ar-SA" sz="2700">
                <a:solidFill>
                  <a:srgbClr val="CBCFE6"/>
                </a:solidFill>
                <a:latin typeface="Readex Pro"/>
                <a:ea typeface="Readex Pro"/>
                <a:cs typeface="Readex Pro"/>
                <a:sym typeface="Readex Pro"/>
              </a:rPr>
              <a:t>تحدي الذكاء الاصطناعي</a:t>
            </a:r>
            <a:endParaRPr/>
          </a:p>
          <a:p>
            <a:pPr indent="0" lvl="0" marL="0" marR="0" rtl="1" algn="r">
              <a:lnSpc>
                <a:spcPct val="115000"/>
              </a:lnSpc>
              <a:spcBef>
                <a:spcPts val="0"/>
              </a:spcBef>
              <a:spcAft>
                <a:spcPts val="0"/>
              </a:spcAft>
              <a:buNone/>
            </a:pPr>
            <a:r>
              <a:rPr b="0" lang="ar-SA" sz="2700">
                <a:solidFill>
                  <a:srgbClr val="CBCFE6"/>
                </a:solidFill>
                <a:latin typeface="Readex Pro"/>
                <a:ea typeface="Readex Pro"/>
                <a:cs typeface="Readex Pro"/>
                <a:sym typeface="Readex Pro"/>
              </a:rPr>
              <a:t>في خدمة المحتوى الإسلامي</a:t>
            </a:r>
            <a:endParaRPr/>
          </a:p>
        </p:txBody>
      </p:sp>
      <p:pic>
        <p:nvPicPr>
          <p:cNvPr id="332" name="Google Shape;332;p1" title="شعار عام الذكاء الاصطناعي.png"/>
          <p:cNvPicPr preferRelativeResize="0"/>
          <p:nvPr/>
        </p:nvPicPr>
        <p:blipFill>
          <a:blip r:embed="rId7">
            <a:alphaModFix/>
          </a:blip>
          <a:stretch>
            <a:fillRect/>
          </a:stretch>
        </p:blipFill>
        <p:spPr>
          <a:xfrm>
            <a:off x="11817050" y="746025"/>
            <a:ext cx="2908672" cy="17085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337" name="Shape 337"/>
        <p:cNvGrpSpPr/>
        <p:nvPr/>
      </p:nvGrpSpPr>
      <p:grpSpPr>
        <a:xfrm>
          <a:off x="0" y="0"/>
          <a:ext cx="0" cy="0"/>
          <a:chOff x="0" y="0"/>
          <a:chExt cx="0" cy="0"/>
        </a:xfrm>
      </p:grpSpPr>
      <p:pic>
        <p:nvPicPr>
          <p:cNvPr id="338" name="Google Shape;338;p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39" name="Google Shape;339;p2"/>
          <p:cNvPicPr preferRelativeResize="0"/>
          <p:nvPr/>
        </p:nvPicPr>
        <p:blipFill rotWithShape="1">
          <a:blip r:embed="rId4">
            <a:alphaModFix/>
          </a:blip>
          <a:srcRect b="0" l="0" r="0" t="0"/>
          <a:stretch/>
        </p:blipFill>
        <p:spPr>
          <a:xfrm>
            <a:off x="1066800" y="693967"/>
            <a:ext cx="3429000" cy="879016"/>
          </a:xfrm>
          <a:prstGeom prst="rect">
            <a:avLst/>
          </a:prstGeom>
          <a:noFill/>
          <a:ln>
            <a:noFill/>
          </a:ln>
        </p:spPr>
      </p:pic>
      <p:sp>
        <p:nvSpPr>
          <p:cNvPr id="340" name="Google Shape;340;p2"/>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2EF2C2"/>
                </a:solidFill>
                <a:latin typeface="Readex Pro"/>
                <a:ea typeface="Readex Pro"/>
                <a:cs typeface="Readex Pro"/>
                <a:sym typeface="Readex Pro"/>
              </a:rPr>
              <a:t>دليل الاستخدام</a:t>
            </a:r>
            <a:endParaRPr/>
          </a:p>
        </p:txBody>
      </p:sp>
      <p:sp>
        <p:nvSpPr>
          <p:cNvPr id="341" name="Google Shape;341;p2"/>
          <p:cNvSpPr/>
          <p:nvPr/>
        </p:nvSpPr>
        <p:spPr>
          <a:xfrm>
            <a:off x="9793075" y="1809750"/>
            <a:ext cx="7047000" cy="800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F2F4FF"/>
                </a:solidFill>
                <a:latin typeface="Readex Pro"/>
                <a:ea typeface="Readex Pro"/>
                <a:cs typeface="Readex Pro"/>
                <a:sym typeface="Readex Pro"/>
              </a:rPr>
              <a:t>طريقة استخدام القالب</a:t>
            </a:r>
            <a:endParaRPr/>
          </a:p>
        </p:txBody>
      </p:sp>
      <p:sp>
        <p:nvSpPr>
          <p:cNvPr id="342" name="Google Shape;342;p2"/>
          <p:cNvSpPr/>
          <p:nvPr/>
        </p:nvSpPr>
        <p:spPr>
          <a:xfrm>
            <a:off x="12481575" y="2857500"/>
            <a:ext cx="43587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خطوات إعداد نسخة عرضك</a:t>
            </a:r>
            <a:endParaRPr/>
          </a:p>
        </p:txBody>
      </p:sp>
      <p:sp>
        <p:nvSpPr>
          <p:cNvPr id="343" name="Google Shape;343;p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44" name="Google Shape;344;p2"/>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8E99CC"/>
                </a:solidFill>
                <a:latin typeface="Readex Pro"/>
                <a:ea typeface="Readex Pro"/>
                <a:cs typeface="Readex Pro"/>
                <a:sym typeface="Readex Pro"/>
              </a:rPr>
              <a:t>02</a:t>
            </a:r>
            <a:endParaRPr/>
          </a:p>
        </p:txBody>
      </p:sp>
      <p:sp>
        <p:nvSpPr>
          <p:cNvPr id="345" name="Google Shape;345;p2"/>
          <p:cNvSpPr/>
          <p:nvPr/>
        </p:nvSpPr>
        <p:spPr>
          <a:xfrm>
            <a:off x="16099657" y="381000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01</a:t>
            </a:r>
            <a:endParaRPr/>
          </a:p>
        </p:txBody>
      </p:sp>
      <p:sp>
        <p:nvSpPr>
          <p:cNvPr id="346" name="Google Shape;346;p2"/>
          <p:cNvSpPr/>
          <p:nvPr/>
        </p:nvSpPr>
        <p:spPr>
          <a:xfrm>
            <a:off x="12699101" y="381000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نسخة جديدة</a:t>
            </a:r>
            <a:endParaRPr/>
          </a:p>
        </p:txBody>
      </p:sp>
      <p:sp>
        <p:nvSpPr>
          <p:cNvPr id="347" name="Google Shape;347;p2"/>
          <p:cNvSpPr/>
          <p:nvPr/>
        </p:nvSpPr>
        <p:spPr>
          <a:xfrm>
            <a:off x="4820250" y="38576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احفظ نسخة باسم المشروع قبل بدء التعديل.</a:t>
            </a:r>
            <a:endParaRPr/>
          </a:p>
        </p:txBody>
      </p:sp>
      <p:sp>
        <p:nvSpPr>
          <p:cNvPr id="348" name="Google Shape;348;p2"/>
          <p:cNvSpPr/>
          <p:nvPr/>
        </p:nvSpPr>
        <p:spPr>
          <a:xfrm>
            <a:off x="16099657" y="508635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02</a:t>
            </a:r>
            <a:endParaRPr/>
          </a:p>
        </p:txBody>
      </p:sp>
      <p:sp>
        <p:nvSpPr>
          <p:cNvPr id="349" name="Google Shape;349;p2"/>
          <p:cNvSpPr/>
          <p:nvPr/>
        </p:nvSpPr>
        <p:spPr>
          <a:xfrm>
            <a:off x="12699101" y="508635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اختيار الشرائح</a:t>
            </a:r>
            <a:endParaRPr/>
          </a:p>
        </p:txBody>
      </p:sp>
      <p:sp>
        <p:nvSpPr>
          <p:cNvPr id="350" name="Google Shape;350;p2"/>
          <p:cNvSpPr/>
          <p:nvPr/>
        </p:nvSpPr>
        <p:spPr>
          <a:xfrm>
            <a:off x="4820250" y="51339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انسخ النموذج المناسب أو اختره من قائمة «تخطيط».</a:t>
            </a:r>
            <a:endParaRPr/>
          </a:p>
        </p:txBody>
      </p:sp>
      <p:sp>
        <p:nvSpPr>
          <p:cNvPr id="351" name="Google Shape;351;p2"/>
          <p:cNvSpPr/>
          <p:nvPr/>
        </p:nvSpPr>
        <p:spPr>
          <a:xfrm>
            <a:off x="16099657" y="636270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03</a:t>
            </a:r>
            <a:endParaRPr/>
          </a:p>
        </p:txBody>
      </p:sp>
      <p:sp>
        <p:nvSpPr>
          <p:cNvPr id="352" name="Google Shape;352;p2"/>
          <p:cNvSpPr/>
          <p:nvPr/>
        </p:nvSpPr>
        <p:spPr>
          <a:xfrm>
            <a:off x="12699101" y="636270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تعبئة المحتوى</a:t>
            </a:r>
            <a:endParaRPr/>
          </a:p>
        </p:txBody>
      </p:sp>
      <p:sp>
        <p:nvSpPr>
          <p:cNvPr id="353" name="Google Shape;353;p2"/>
          <p:cNvSpPr/>
          <p:nvPr/>
        </p:nvSpPr>
        <p:spPr>
          <a:xfrm>
            <a:off x="4820250" y="64103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استبدل النصوص الإرشادية وأضف صور مشروعك وبياناته.</a:t>
            </a:r>
            <a:endParaRPr/>
          </a:p>
        </p:txBody>
      </p:sp>
      <p:sp>
        <p:nvSpPr>
          <p:cNvPr id="354" name="Google Shape;354;p2"/>
          <p:cNvSpPr/>
          <p:nvPr/>
        </p:nvSpPr>
        <p:spPr>
          <a:xfrm>
            <a:off x="16099657" y="763905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04</a:t>
            </a:r>
            <a:endParaRPr/>
          </a:p>
        </p:txBody>
      </p:sp>
      <p:sp>
        <p:nvSpPr>
          <p:cNvPr id="355" name="Google Shape;355;p2"/>
          <p:cNvSpPr/>
          <p:nvPr/>
        </p:nvSpPr>
        <p:spPr>
          <a:xfrm>
            <a:off x="12699101" y="763905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التهيئة للإرسال</a:t>
            </a:r>
            <a:endParaRPr/>
          </a:p>
        </p:txBody>
      </p:sp>
      <p:sp>
        <p:nvSpPr>
          <p:cNvPr id="356" name="Google Shape;356;p2"/>
          <p:cNvSpPr/>
          <p:nvPr/>
        </p:nvSpPr>
        <p:spPr>
          <a:xfrm>
            <a:off x="4820250" y="76866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احذف شرائح الدليل والنماذج غير المستخدمة، ثم راجع العرض.</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361" name="Shape 361"/>
        <p:cNvGrpSpPr/>
        <p:nvPr/>
      </p:nvGrpSpPr>
      <p:grpSpPr>
        <a:xfrm>
          <a:off x="0" y="0"/>
          <a:ext cx="0" cy="0"/>
          <a:chOff x="0" y="0"/>
          <a:chExt cx="0" cy="0"/>
        </a:xfrm>
      </p:grpSpPr>
      <p:pic>
        <p:nvPicPr>
          <p:cNvPr id="362" name="Google Shape;362;p3"/>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63" name="Google Shape;363;p3"/>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364" name="Google Shape;364;p3"/>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6150EA"/>
                </a:solidFill>
                <a:latin typeface="Readex Pro"/>
                <a:ea typeface="Readex Pro"/>
                <a:cs typeface="Readex Pro"/>
                <a:sym typeface="Readex Pro"/>
              </a:rPr>
              <a:t>دليل الاستخدام</a:t>
            </a:r>
            <a:endParaRPr/>
          </a:p>
        </p:txBody>
      </p:sp>
      <p:sp>
        <p:nvSpPr>
          <p:cNvPr id="365" name="Google Shape;365;p3"/>
          <p:cNvSpPr/>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12183F"/>
                </a:solidFill>
                <a:latin typeface="Readex Pro"/>
                <a:ea typeface="Readex Pro"/>
                <a:cs typeface="Readex Pro"/>
                <a:sym typeface="Readex Pro"/>
              </a:rPr>
              <a:t>اختيار النموذج المناسب</a:t>
            </a:r>
            <a:endParaRPr/>
          </a:p>
        </p:txBody>
      </p:sp>
      <p:sp>
        <p:nvSpPr>
          <p:cNvPr id="366" name="Google Shape;366;p3"/>
          <p:cNvSpPr/>
          <p:nvPr/>
        </p:nvSpPr>
        <p:spPr>
          <a:xfrm>
            <a:off x="9516525" y="2857500"/>
            <a:ext cx="73236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اختر التخطيط بحسب المحتوى الذي تريد عرضه</a:t>
            </a:r>
            <a:endParaRPr/>
          </a:p>
        </p:txBody>
      </p:sp>
      <p:sp>
        <p:nvSpPr>
          <p:cNvPr id="367" name="Google Shape;367;p3"/>
          <p:cNvSpPr/>
          <p:nvPr/>
        </p:nvSpPr>
        <p:spPr>
          <a:xfrm>
            <a:off x="11183911" y="9467850"/>
            <a:ext cx="57324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68" name="Google Shape;368;p3"/>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4A5590"/>
                </a:solidFill>
                <a:latin typeface="Readex Pro"/>
                <a:ea typeface="Readex Pro"/>
                <a:cs typeface="Readex Pro"/>
                <a:sym typeface="Readex Pro"/>
              </a:rPr>
              <a:t>03</a:t>
            </a:r>
            <a:endParaRPr/>
          </a:p>
        </p:txBody>
      </p:sp>
      <p:sp>
        <p:nvSpPr>
          <p:cNvPr id="369" name="Google Shape;369;p3"/>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370" name="Google Shape;370;p3"/>
          <p:cNvSpPr/>
          <p:nvPr/>
        </p:nvSpPr>
        <p:spPr>
          <a:xfrm>
            <a:off x="8458200" y="38100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فكرة أو شرح</a:t>
            </a:r>
            <a:endParaRPr/>
          </a:p>
        </p:txBody>
      </p:sp>
      <p:sp>
        <p:nvSpPr>
          <p:cNvPr id="371" name="Google Shape;371;p3"/>
          <p:cNvSpPr/>
          <p:nvPr/>
        </p:nvSpPr>
        <p:spPr>
          <a:xfrm>
            <a:off x="1409700" y="38576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نص رئيسي، نقاط داعمة، أو رسالة واحدة بارزة.</a:t>
            </a:r>
            <a:endParaRPr/>
          </a:p>
        </p:txBody>
      </p:sp>
      <p:sp>
        <p:nvSpPr>
          <p:cNvPr id="372" name="Google Shape;372;p3"/>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373" name="Google Shape;373;p3"/>
          <p:cNvSpPr/>
          <p:nvPr/>
        </p:nvSpPr>
        <p:spPr>
          <a:xfrm>
            <a:off x="8458200" y="50482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صورة أو واجهة</a:t>
            </a:r>
            <a:endParaRPr/>
          </a:p>
        </p:txBody>
      </p:sp>
      <p:sp>
        <p:nvSpPr>
          <p:cNvPr id="374" name="Google Shape;374;p3"/>
          <p:cNvSpPr/>
          <p:nvPr/>
        </p:nvSpPr>
        <p:spPr>
          <a:xfrm>
            <a:off x="1409700" y="50958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صورة مربعة، صورة عريضة، صورة كاملة، أو معرض صور.</a:t>
            </a:r>
            <a:endParaRPr/>
          </a:p>
        </p:txBody>
      </p:sp>
      <p:sp>
        <p:nvSpPr>
          <p:cNvPr id="375" name="Google Shape;375;p3"/>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376" name="Google Shape;376;p3"/>
          <p:cNvSpPr/>
          <p:nvPr/>
        </p:nvSpPr>
        <p:spPr>
          <a:xfrm>
            <a:off x="8458200" y="62865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بيانات ومقارنة</a:t>
            </a:r>
            <a:endParaRPr/>
          </a:p>
        </p:txBody>
      </p:sp>
      <p:sp>
        <p:nvSpPr>
          <p:cNvPr id="377" name="Google Shape;377;p3"/>
          <p:cNvSpPr/>
          <p:nvPr/>
        </p:nvSpPr>
        <p:spPr>
          <a:xfrm>
            <a:off x="1409700" y="63341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مؤشرات، جدول داكن أو فاتح، أعمدة، أو توزيع نسبي.</a:t>
            </a:r>
            <a:endParaRPr/>
          </a:p>
        </p:txBody>
      </p:sp>
      <p:sp>
        <p:nvSpPr>
          <p:cNvPr id="378" name="Google Shape;378;p3"/>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379" name="Google Shape;379;p3"/>
          <p:cNvSpPr/>
          <p:nvPr/>
        </p:nvSpPr>
        <p:spPr>
          <a:xfrm>
            <a:off x="8458200" y="75247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مراحل وتنفيذ</a:t>
            </a:r>
            <a:endParaRPr/>
          </a:p>
        </p:txBody>
      </p:sp>
      <p:sp>
        <p:nvSpPr>
          <p:cNvPr id="380" name="Google Shape;380;p3"/>
          <p:cNvSpPr/>
          <p:nvPr/>
        </p:nvSpPr>
        <p:spPr>
          <a:xfrm>
            <a:off x="1409700" y="75723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آلية عمل، خط زمني، أو تعريف بأعضاء الفريق.</a:t>
            </a:r>
            <a:endParaRPr/>
          </a:p>
        </p:txBody>
      </p:sp>
      <p:sp>
        <p:nvSpPr>
          <p:cNvPr id="381" name="Google Shape;381;p3"/>
          <p:cNvSpPr/>
          <p:nvPr/>
        </p:nvSpPr>
        <p:spPr>
          <a:xfrm>
            <a:off x="9147825" y="8953500"/>
            <a:ext cx="7768500" cy="428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100">
                <a:solidFill>
                  <a:srgbClr val="6150EA"/>
                </a:solidFill>
                <a:latin typeface="Readex Pro"/>
                <a:ea typeface="Readex Pro"/>
                <a:cs typeface="Readex Pro"/>
                <a:sym typeface="Readex Pro"/>
              </a:rPr>
              <a:t>للتصميم الخاص: استخدم الشريحة الفارغة الداكنة أو الفاتحة.</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386" name="Shape 386"/>
        <p:cNvGrpSpPr/>
        <p:nvPr/>
      </p:nvGrpSpPr>
      <p:grpSpPr>
        <a:xfrm>
          <a:off x="0" y="0"/>
          <a:ext cx="0" cy="0"/>
          <a:chOff x="0" y="0"/>
          <a:chExt cx="0" cy="0"/>
        </a:xfrm>
      </p:grpSpPr>
      <p:pic>
        <p:nvPicPr>
          <p:cNvPr id="387" name="Google Shape;387;p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88" name="Google Shape;388;p4"/>
          <p:cNvPicPr preferRelativeResize="0"/>
          <p:nvPr/>
        </p:nvPicPr>
        <p:blipFill rotWithShape="1">
          <a:blip r:embed="rId4">
            <a:alphaModFix/>
          </a:blip>
          <a:srcRect b="0" l="0" r="0" t="0"/>
          <a:stretch/>
        </p:blipFill>
        <p:spPr>
          <a:xfrm>
            <a:off x="1066800" y="693967"/>
            <a:ext cx="3429000" cy="879016"/>
          </a:xfrm>
          <a:prstGeom prst="rect">
            <a:avLst/>
          </a:prstGeom>
          <a:noFill/>
          <a:ln>
            <a:noFill/>
          </a:ln>
        </p:spPr>
      </p:pic>
      <p:sp>
        <p:nvSpPr>
          <p:cNvPr id="389" name="Google Shape;389;p4"/>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8E99CC"/>
                </a:solidFill>
                <a:latin typeface="Readex Pro"/>
                <a:ea typeface="Readex Pro"/>
                <a:cs typeface="Readex Pro"/>
                <a:sym typeface="Readex Pro"/>
              </a:rPr>
              <a:t>04</a:t>
            </a:r>
            <a:endParaRPr/>
          </a:p>
        </p:txBody>
      </p:sp>
      <p:sp>
        <p:nvSpPr>
          <p:cNvPr id="390" name="Google Shape;390;p4"/>
          <p:cNvSpPr/>
          <p:nvPr/>
        </p:nvSpPr>
        <p:spPr>
          <a:xfrm>
            <a:off x="8790650" y="3943350"/>
            <a:ext cx="952500" cy="762000"/>
          </a:xfrm>
          <a:prstGeom prst="rect">
            <a:avLst/>
          </a:prstGeom>
          <a:solidFill>
            <a:srgbClr val="12183F"/>
          </a:solidFill>
          <a:ln cap="flat" cmpd="sng" w="11425">
            <a:solidFill>
              <a:srgbClr val="F2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
          <p:cNvSpPr/>
          <p:nvPr/>
        </p:nvSpPr>
        <p:spPr>
          <a:xfrm>
            <a:off x="4984475" y="396240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الكحلي</a:t>
            </a:r>
            <a:endParaRPr/>
          </a:p>
        </p:txBody>
      </p:sp>
      <p:sp>
        <p:nvSpPr>
          <p:cNvPr id="392" name="Google Shape;392;p4"/>
          <p:cNvSpPr/>
          <p:nvPr/>
        </p:nvSpPr>
        <p:spPr>
          <a:xfrm>
            <a:off x="4984475" y="445770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#12183F</a:t>
            </a:r>
            <a:endParaRPr>
              <a:latin typeface="Readex Pro Light"/>
              <a:ea typeface="Readex Pro Light"/>
              <a:cs typeface="Readex Pro Light"/>
              <a:sym typeface="Readex Pro Light"/>
            </a:endParaRPr>
          </a:p>
        </p:txBody>
      </p:sp>
      <p:sp>
        <p:nvSpPr>
          <p:cNvPr id="393" name="Google Shape;393;p4"/>
          <p:cNvSpPr/>
          <p:nvPr/>
        </p:nvSpPr>
        <p:spPr>
          <a:xfrm>
            <a:off x="8790650" y="5143500"/>
            <a:ext cx="952500" cy="762000"/>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
          <p:cNvSpPr/>
          <p:nvPr/>
        </p:nvSpPr>
        <p:spPr>
          <a:xfrm>
            <a:off x="4984475" y="516255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البنفسجي</a:t>
            </a:r>
            <a:endParaRPr/>
          </a:p>
        </p:txBody>
      </p:sp>
      <p:sp>
        <p:nvSpPr>
          <p:cNvPr id="395" name="Google Shape;395;p4"/>
          <p:cNvSpPr/>
          <p:nvPr/>
        </p:nvSpPr>
        <p:spPr>
          <a:xfrm>
            <a:off x="4984475" y="565785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#6150EA</a:t>
            </a:r>
            <a:endParaRPr>
              <a:latin typeface="Readex Pro Light"/>
              <a:ea typeface="Readex Pro Light"/>
              <a:cs typeface="Readex Pro Light"/>
              <a:sym typeface="Readex Pro Light"/>
            </a:endParaRPr>
          </a:p>
        </p:txBody>
      </p:sp>
      <p:sp>
        <p:nvSpPr>
          <p:cNvPr id="396" name="Google Shape;396;p4"/>
          <p:cNvSpPr/>
          <p:nvPr/>
        </p:nvSpPr>
        <p:spPr>
          <a:xfrm>
            <a:off x="8790650" y="6343650"/>
            <a:ext cx="952500" cy="762000"/>
          </a:xfrm>
          <a:prstGeom prst="rect">
            <a:avLst/>
          </a:prstGeom>
          <a:solidFill>
            <a:srgbClr val="2EF2C2"/>
          </a:solidFill>
          <a:ln cap="flat" cmpd="sng" w="11425">
            <a:solidFill>
              <a:srgbClr val="2EF2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
          <p:cNvSpPr/>
          <p:nvPr/>
        </p:nvSpPr>
        <p:spPr>
          <a:xfrm>
            <a:off x="4984475" y="636270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التركواز</a:t>
            </a:r>
            <a:endParaRPr/>
          </a:p>
        </p:txBody>
      </p:sp>
      <p:sp>
        <p:nvSpPr>
          <p:cNvPr id="398" name="Google Shape;398;p4"/>
          <p:cNvSpPr/>
          <p:nvPr/>
        </p:nvSpPr>
        <p:spPr>
          <a:xfrm>
            <a:off x="4984475" y="685800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#2EF2C2</a:t>
            </a:r>
            <a:endParaRPr>
              <a:latin typeface="Readex Pro Light"/>
              <a:ea typeface="Readex Pro Light"/>
              <a:cs typeface="Readex Pro Light"/>
              <a:sym typeface="Readex Pro Light"/>
            </a:endParaRPr>
          </a:p>
        </p:txBody>
      </p:sp>
      <p:sp>
        <p:nvSpPr>
          <p:cNvPr id="399" name="Google Shape;399;p4"/>
          <p:cNvSpPr/>
          <p:nvPr/>
        </p:nvSpPr>
        <p:spPr>
          <a:xfrm>
            <a:off x="8790650" y="7543800"/>
            <a:ext cx="952500" cy="762000"/>
          </a:xfrm>
          <a:prstGeom prst="rect">
            <a:avLst/>
          </a:prstGeom>
          <a:solidFill>
            <a:srgbClr val="F2F4FF"/>
          </a:solidFill>
          <a:ln cap="flat" cmpd="sng" w="11425">
            <a:solidFill>
              <a:srgbClr val="F2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
          <p:cNvSpPr/>
          <p:nvPr/>
        </p:nvSpPr>
        <p:spPr>
          <a:xfrm>
            <a:off x="4984475" y="756285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الأبيض المائل للأزرق</a:t>
            </a:r>
            <a:endParaRPr/>
          </a:p>
        </p:txBody>
      </p:sp>
      <p:sp>
        <p:nvSpPr>
          <p:cNvPr id="401" name="Google Shape;401;p4"/>
          <p:cNvSpPr/>
          <p:nvPr/>
        </p:nvSpPr>
        <p:spPr>
          <a:xfrm>
            <a:off x="4984475" y="805815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#F2F4FF</a:t>
            </a:r>
            <a:endParaRPr>
              <a:latin typeface="Readex Pro Light"/>
              <a:ea typeface="Readex Pro Light"/>
              <a:cs typeface="Readex Pro Light"/>
              <a:sym typeface="Readex Pro Light"/>
            </a:endParaRPr>
          </a:p>
        </p:txBody>
      </p:sp>
      <p:sp>
        <p:nvSpPr>
          <p:cNvPr id="402" name="Google Shape;402;p4"/>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2EF2C2"/>
                </a:solidFill>
                <a:latin typeface="Readex Pro"/>
                <a:ea typeface="Readex Pro"/>
                <a:cs typeface="Readex Pro"/>
                <a:sym typeface="Readex Pro"/>
              </a:rPr>
              <a:t>دليل الاستخدام</a:t>
            </a:r>
            <a:endParaRPr/>
          </a:p>
        </p:txBody>
      </p:sp>
      <p:sp>
        <p:nvSpPr>
          <p:cNvPr id="403" name="Google Shape;403;p4"/>
          <p:cNvSpPr/>
          <p:nvPr/>
        </p:nvSpPr>
        <p:spPr>
          <a:xfrm>
            <a:off x="9791700" y="1809750"/>
            <a:ext cx="7048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F2F4FF"/>
                </a:solidFill>
                <a:latin typeface="Readex Pro"/>
                <a:ea typeface="Readex Pro"/>
                <a:cs typeface="Readex Pro"/>
                <a:sym typeface="Readex Pro"/>
              </a:rPr>
              <a:t>الخط والألوان</a:t>
            </a:r>
            <a:endParaRPr/>
          </a:p>
        </p:txBody>
      </p:sp>
      <p:sp>
        <p:nvSpPr>
          <p:cNvPr id="404" name="Google Shape;404;p4"/>
          <p:cNvSpPr/>
          <p:nvPr/>
        </p:nvSpPr>
        <p:spPr>
          <a:xfrm>
            <a:off x="9791700" y="2857500"/>
            <a:ext cx="7048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مقاسات وألوان متسقة مع الهوية المرفقة</a:t>
            </a:r>
            <a:endParaRPr/>
          </a:p>
        </p:txBody>
      </p:sp>
      <p:sp>
        <p:nvSpPr>
          <p:cNvPr id="405" name="Google Shape;405;p4"/>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406" name="Google Shape;406;p4"/>
          <p:cNvSpPr/>
          <p:nvPr/>
        </p:nvSpPr>
        <p:spPr>
          <a:xfrm>
            <a:off x="9791700" y="3857625"/>
            <a:ext cx="7048500" cy="8382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4950">
                <a:solidFill>
                  <a:srgbClr val="F2F4FF"/>
                </a:solidFill>
                <a:latin typeface="Readex Pro"/>
                <a:ea typeface="Readex Pro"/>
                <a:cs typeface="Readex Pro"/>
                <a:sym typeface="Readex Pro"/>
              </a:rPr>
              <a:t>Readex Pro</a:t>
            </a:r>
            <a:endParaRPr/>
          </a:p>
        </p:txBody>
      </p:sp>
      <p:sp>
        <p:nvSpPr>
          <p:cNvPr id="407" name="Google Shape;407;p4"/>
          <p:cNvSpPr/>
          <p:nvPr/>
        </p:nvSpPr>
        <p:spPr>
          <a:xfrm>
            <a:off x="11406175" y="5010150"/>
            <a:ext cx="5434200" cy="2381400"/>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None/>
            </a:pPr>
            <a:r>
              <a:rPr b="1" lang="ar-SA" sz="3150">
                <a:solidFill>
                  <a:srgbClr val="F2F4FF"/>
                </a:solidFill>
                <a:latin typeface="Readex Pro"/>
                <a:ea typeface="Readex Pro"/>
                <a:cs typeface="Readex Pro"/>
                <a:sym typeface="Readex Pro"/>
              </a:rPr>
              <a:t>العنوان الرئيسي 45 نقطة</a:t>
            </a:r>
            <a:endParaRPr b="1">
              <a:latin typeface="Readex Pro"/>
              <a:ea typeface="Readex Pro"/>
              <a:cs typeface="Readex Pro"/>
              <a:sym typeface="Readex Pro"/>
            </a:endParaRPr>
          </a:p>
          <a:p>
            <a:pPr indent="0" lvl="0" marL="0" marR="0" rtl="1" algn="r">
              <a:lnSpc>
                <a:spcPct val="150000"/>
              </a:lnSpc>
              <a:spcBef>
                <a:spcPts val="0"/>
              </a:spcBef>
              <a:spcAft>
                <a:spcPts val="0"/>
              </a:spcAft>
              <a:buNone/>
            </a:pPr>
            <a:r>
              <a:rPr lang="ar-SA" sz="3150">
                <a:solidFill>
                  <a:srgbClr val="F2F4FF"/>
                </a:solidFill>
                <a:latin typeface="Readex Pro Medium"/>
                <a:ea typeface="Readex Pro Medium"/>
                <a:cs typeface="Readex Pro Medium"/>
                <a:sym typeface="Readex Pro Medium"/>
              </a:rPr>
              <a:t>النص 24 نقطة</a:t>
            </a:r>
            <a:endParaRPr>
              <a:latin typeface="Readex Pro Medium"/>
              <a:ea typeface="Readex Pro Medium"/>
              <a:cs typeface="Readex Pro Medium"/>
              <a:sym typeface="Readex Pro Medium"/>
            </a:endParaRPr>
          </a:p>
          <a:p>
            <a:pPr indent="0" lvl="0" marL="0" marR="0" rtl="1" algn="r">
              <a:lnSpc>
                <a:spcPct val="150000"/>
              </a:lnSpc>
              <a:spcBef>
                <a:spcPts val="0"/>
              </a:spcBef>
              <a:spcAft>
                <a:spcPts val="0"/>
              </a:spcAft>
              <a:buNone/>
            </a:pPr>
            <a:r>
              <a:rPr lang="ar-SA" sz="3150">
                <a:solidFill>
                  <a:srgbClr val="F2F4FF"/>
                </a:solidFill>
                <a:latin typeface="Readex Pro Light"/>
                <a:ea typeface="Readex Pro Light"/>
                <a:cs typeface="Readex Pro Light"/>
                <a:sym typeface="Readex Pro Light"/>
              </a:rPr>
              <a:t>التعليق 18 نقطة</a:t>
            </a:r>
            <a:endParaRPr>
              <a:latin typeface="Readex Pro Light"/>
              <a:ea typeface="Readex Pro Light"/>
              <a:cs typeface="Readex Pro Light"/>
              <a:sym typeface="Readex Pro Light"/>
            </a:endParaRPr>
          </a:p>
        </p:txBody>
      </p:sp>
      <p:sp>
        <p:nvSpPr>
          <p:cNvPr id="408" name="Google Shape;408;p4"/>
          <p:cNvSpPr/>
          <p:nvPr/>
        </p:nvSpPr>
        <p:spPr>
          <a:xfrm>
            <a:off x="10668750" y="7953375"/>
            <a:ext cx="6171600" cy="9525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None/>
            </a:pPr>
            <a:r>
              <a:rPr lang="ar-SA" sz="2100">
                <a:solidFill>
                  <a:srgbClr val="CBCFE6"/>
                </a:solidFill>
                <a:latin typeface="Readex Pro Light"/>
                <a:ea typeface="Readex Pro Light"/>
                <a:cs typeface="Readex Pro Light"/>
                <a:sym typeface="Readex Pro Light"/>
              </a:rPr>
              <a:t>العناوين بوزن Bold، والنصوص بوزن Regular.</a:t>
            </a:r>
            <a:endParaRPr>
              <a:latin typeface="Readex Pro Light"/>
              <a:ea typeface="Readex Pro Light"/>
              <a:cs typeface="Readex Pro Light"/>
              <a:sym typeface="Readex Pro Light"/>
            </a:endParaRPr>
          </a:p>
          <a:p>
            <a:pPr indent="0" lvl="0" marL="0" marR="0" rtl="1" algn="r">
              <a:lnSpc>
                <a:spcPct val="115000"/>
              </a:lnSpc>
              <a:spcBef>
                <a:spcPts val="0"/>
              </a:spcBef>
              <a:spcAft>
                <a:spcPts val="0"/>
              </a:spcAft>
              <a:buNone/>
            </a:pPr>
            <a:r>
              <a:rPr lang="ar-SA" sz="2100">
                <a:solidFill>
                  <a:srgbClr val="CBCFE6"/>
                </a:solidFill>
                <a:latin typeface="Readex Pro Light"/>
                <a:ea typeface="Readex Pro Light"/>
                <a:cs typeface="Readex Pro Light"/>
                <a:sym typeface="Readex Pro Light"/>
              </a:rPr>
              <a:t>ثبّت الخط قبل التحرير إذا اختلف مظهر النص.</a:t>
            </a:r>
            <a:endParaRPr>
              <a:latin typeface="Readex Pro Light"/>
              <a:ea typeface="Readex Pro Light"/>
              <a:cs typeface="Readex Pro Light"/>
              <a:sym typeface="Readex Pr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413" name="Shape 413"/>
        <p:cNvGrpSpPr/>
        <p:nvPr/>
      </p:nvGrpSpPr>
      <p:grpSpPr>
        <a:xfrm>
          <a:off x="0" y="0"/>
          <a:ext cx="0" cy="0"/>
          <a:chOff x="0" y="0"/>
          <a:chExt cx="0" cy="0"/>
        </a:xfrm>
      </p:grpSpPr>
      <p:pic>
        <p:nvPicPr>
          <p:cNvPr id="414" name="Google Shape;414;p5"/>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15" name="Google Shape;415;p5"/>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416" name="Google Shape;416;p5"/>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4A5590"/>
                </a:solidFill>
                <a:latin typeface="Readex Pro"/>
                <a:ea typeface="Readex Pro"/>
                <a:cs typeface="Readex Pro"/>
                <a:sym typeface="Readex Pro"/>
              </a:rPr>
              <a:t>05</a:t>
            </a:r>
            <a:endParaRPr/>
          </a:p>
        </p:txBody>
      </p:sp>
      <p:sp>
        <p:nvSpPr>
          <p:cNvPr id="417" name="Google Shape;417;p5"/>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6150EA"/>
                </a:solidFill>
                <a:latin typeface="Readex Pro"/>
                <a:ea typeface="Readex Pro"/>
                <a:cs typeface="Readex Pro"/>
                <a:sym typeface="Readex Pro"/>
              </a:rPr>
              <a:t>دليل الاستخدام</a:t>
            </a:r>
            <a:endParaRPr/>
          </a:p>
        </p:txBody>
      </p:sp>
      <p:sp>
        <p:nvSpPr>
          <p:cNvPr id="418" name="Google Shape;418;p5"/>
          <p:cNvSpPr/>
          <p:nvPr/>
        </p:nvSpPr>
        <p:spPr>
          <a:xfrm>
            <a:off x="7166000" y="1809750"/>
            <a:ext cx="96741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12183F"/>
                </a:solidFill>
                <a:latin typeface="Readex Pro"/>
                <a:ea typeface="Readex Pro"/>
                <a:cs typeface="Readex Pro"/>
                <a:sym typeface="Readex Pro"/>
              </a:rPr>
              <a:t>النصوص والمربعات والمساحات</a:t>
            </a:r>
            <a:endParaRPr/>
          </a:p>
        </p:txBody>
      </p:sp>
      <p:sp>
        <p:nvSpPr>
          <p:cNvPr id="419" name="Google Shape;419;p5"/>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لكل عنصر وظيفة واضحة داخل الشريحة</a:t>
            </a:r>
            <a:endParaRPr/>
          </a:p>
        </p:txBody>
      </p:sp>
      <p:sp>
        <p:nvSpPr>
          <p:cNvPr id="420" name="Google Shape;420;p5"/>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421" name="Google Shape;421;p5"/>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422" name="Google Shape;422;p5"/>
          <p:cNvSpPr/>
          <p:nvPr/>
        </p:nvSpPr>
        <p:spPr>
          <a:xfrm>
            <a:off x="11897775" y="381000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نص بين أقواس</a:t>
            </a:r>
            <a:endParaRPr/>
          </a:p>
        </p:txBody>
      </p:sp>
      <p:sp>
        <p:nvSpPr>
          <p:cNvPr id="423" name="Google Shape;423;p5"/>
          <p:cNvSpPr/>
          <p:nvPr/>
        </p:nvSpPr>
        <p:spPr>
          <a:xfrm>
            <a:off x="5204325" y="38576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استبدله ببيانات مشروعك، ثم احذف الأقواس.</a:t>
            </a:r>
            <a:endParaRPr/>
          </a:p>
        </p:txBody>
      </p:sp>
      <p:sp>
        <p:nvSpPr>
          <p:cNvPr id="424" name="Google Shape;424;p5"/>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425" name="Google Shape;425;p5"/>
          <p:cNvSpPr/>
          <p:nvPr/>
        </p:nvSpPr>
        <p:spPr>
          <a:xfrm>
            <a:off x="11897775" y="504825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مربع صورة</a:t>
            </a:r>
            <a:endParaRPr/>
          </a:p>
        </p:txBody>
      </p:sp>
      <p:sp>
        <p:nvSpPr>
          <p:cNvPr id="426" name="Google Shape;426;p5"/>
          <p:cNvSpPr/>
          <p:nvPr/>
        </p:nvSpPr>
        <p:spPr>
          <a:xfrm>
            <a:off x="5204325" y="50958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أضف الصورة داخل العنصر النائب، واضبط القص داخل الإطار.</a:t>
            </a:r>
            <a:endParaRPr/>
          </a:p>
        </p:txBody>
      </p:sp>
      <p:sp>
        <p:nvSpPr>
          <p:cNvPr id="427" name="Google Shape;427;p5"/>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428" name="Google Shape;428;p5"/>
          <p:cNvSpPr/>
          <p:nvPr/>
        </p:nvSpPr>
        <p:spPr>
          <a:xfrm>
            <a:off x="11897775" y="628650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مربع نص أو شكل</a:t>
            </a:r>
            <a:endParaRPr/>
          </a:p>
        </p:txBody>
      </p:sp>
      <p:sp>
        <p:nvSpPr>
          <p:cNvPr id="429" name="Google Shape;429;p5"/>
          <p:cNvSpPr/>
          <p:nvPr/>
        </p:nvSpPr>
        <p:spPr>
          <a:xfrm>
            <a:off x="5204325" y="63341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حرّر النص، وكرّر المربع عند الحاجة مع الحفاظ على المحاذاة.</a:t>
            </a:r>
            <a:endParaRPr/>
          </a:p>
        </p:txBody>
      </p:sp>
      <p:sp>
        <p:nvSpPr>
          <p:cNvPr id="430" name="Google Shape;430;p5"/>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431" name="Google Shape;431;p5"/>
          <p:cNvSpPr/>
          <p:nvPr/>
        </p:nvSpPr>
        <p:spPr>
          <a:xfrm>
            <a:off x="11897775" y="752475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مساحة فارغة</a:t>
            </a:r>
            <a:endParaRPr/>
          </a:p>
        </p:txBody>
      </p:sp>
      <p:sp>
        <p:nvSpPr>
          <p:cNvPr id="432" name="Google Shape;432;p5"/>
          <p:cNvSpPr/>
          <p:nvPr/>
        </p:nvSpPr>
        <p:spPr>
          <a:xfrm>
            <a:off x="5204325" y="75723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استخدمها للتوازن البصري، أو أضف محتوى ضروريًا فقط.</a:t>
            </a:r>
            <a:endParaRPr/>
          </a:p>
        </p:txBody>
      </p:sp>
      <p:sp>
        <p:nvSpPr>
          <p:cNvPr id="433" name="Google Shape;433;p5"/>
          <p:cNvSpPr/>
          <p:nvPr/>
        </p:nvSpPr>
        <p:spPr>
          <a:xfrm>
            <a:off x="1409700" y="8953500"/>
            <a:ext cx="154305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100">
                <a:solidFill>
                  <a:srgbClr val="6150EA"/>
                </a:solidFill>
                <a:latin typeface="Readex Pro"/>
                <a:ea typeface="Readex Pro"/>
                <a:cs typeface="Readex Pro"/>
                <a:sym typeface="Readex Pro"/>
              </a:rPr>
              <a:t>إذا زاد النص: اختصره أو وزّعه على شريحتين مع الحفاظ على حجم الخط.</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38" name="Shape 438"/>
        <p:cNvGrpSpPr/>
        <p:nvPr/>
      </p:nvGrpSpPr>
      <p:grpSpPr>
        <a:xfrm>
          <a:off x="0" y="0"/>
          <a:ext cx="0" cy="0"/>
          <a:chOff x="0" y="0"/>
          <a:chExt cx="0" cy="0"/>
        </a:xfrm>
      </p:grpSpPr>
      <p:pic>
        <p:nvPicPr>
          <p:cNvPr id="439" name="Google Shape;439;p6"/>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40" name="Google Shape;440;p6"/>
          <p:cNvPicPr preferRelativeResize="0"/>
          <p:nvPr/>
        </p:nvPicPr>
        <p:blipFill rotWithShape="1">
          <a:blip r:embed="rId4">
            <a:alphaModFix/>
          </a:blip>
          <a:srcRect b="0" l="0" r="0" t="0"/>
          <a:stretch/>
        </p:blipFill>
        <p:spPr>
          <a:xfrm>
            <a:off x="1066800" y="693967"/>
            <a:ext cx="3429000" cy="879016"/>
          </a:xfrm>
          <a:prstGeom prst="rect">
            <a:avLst/>
          </a:prstGeom>
          <a:noFill/>
          <a:ln>
            <a:noFill/>
          </a:ln>
        </p:spPr>
      </p:pic>
      <p:sp>
        <p:nvSpPr>
          <p:cNvPr id="441" name="Google Shape;441;p6"/>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8E99CC"/>
                </a:solidFill>
                <a:latin typeface="Readex Pro"/>
                <a:ea typeface="Readex Pro"/>
                <a:cs typeface="Readex Pro"/>
                <a:sym typeface="Readex Pro"/>
              </a:rPr>
              <a:t>06</a:t>
            </a:r>
            <a:endParaRPr/>
          </a:p>
        </p:txBody>
      </p:sp>
      <p:sp>
        <p:nvSpPr>
          <p:cNvPr id="442" name="Google Shape;442;p6"/>
          <p:cNvSpPr/>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الجداول</a:t>
            </a:r>
            <a:endParaRPr/>
          </a:p>
        </p:txBody>
      </p:sp>
      <p:sp>
        <p:nvSpPr>
          <p:cNvPr id="443" name="Google Shape;443;p6"/>
          <p:cNvSpPr/>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اكتب داخل الخلية. أضف الصفوف أو احذفها من أدوات الجدول، وحافظ على عرض الأعمدة.</a:t>
            </a:r>
            <a:endParaRPr>
              <a:latin typeface="Readex Pro Light"/>
              <a:ea typeface="Readex Pro Light"/>
              <a:cs typeface="Readex Pro Light"/>
              <a:sym typeface="Readex Pro Light"/>
            </a:endParaRPr>
          </a:p>
        </p:txBody>
      </p:sp>
      <p:sp>
        <p:nvSpPr>
          <p:cNvPr id="444" name="Google Shape;444;p6"/>
          <p:cNvSpPr/>
          <p:nvPr/>
        </p:nvSpPr>
        <p:spPr>
          <a:xfrm>
            <a:off x="1714500" y="6524625"/>
            <a:ext cx="6953250" cy="5905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الأرقام والروابط</a:t>
            </a:r>
            <a:endParaRPr/>
          </a:p>
        </p:txBody>
      </p:sp>
      <p:sp>
        <p:nvSpPr>
          <p:cNvPr id="445" name="Google Shape;445;p6"/>
          <p:cNvSpPr/>
          <p:nvPr/>
        </p:nvSpPr>
        <p:spPr>
          <a:xfrm>
            <a:off x="1714500" y="7229475"/>
            <a:ext cx="695325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الأرقام داخل الرسوم أمثلة توضيحية. استبدلها بنتائج مشروعك، واختبر الروابط قبل الإرسال.</a:t>
            </a:r>
            <a:endParaRPr>
              <a:latin typeface="Readex Pro Light"/>
              <a:ea typeface="Readex Pro Light"/>
              <a:cs typeface="Readex Pro Light"/>
              <a:sym typeface="Readex Pro Light"/>
            </a:endParaRPr>
          </a:p>
        </p:txBody>
      </p:sp>
      <p:sp>
        <p:nvSpPr>
          <p:cNvPr id="446" name="Google Shape;446;p6"/>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2EF2C2"/>
                </a:solidFill>
                <a:latin typeface="Readex Pro"/>
                <a:ea typeface="Readex Pro"/>
                <a:cs typeface="Readex Pro"/>
                <a:sym typeface="Readex Pro"/>
              </a:rPr>
              <a:t>دليل الاستخدام</a:t>
            </a:r>
            <a:endParaRPr/>
          </a:p>
        </p:txBody>
      </p:sp>
      <p:sp>
        <p:nvSpPr>
          <p:cNvPr id="447" name="Google Shape;447;p6"/>
          <p:cNvSpPr/>
          <p:nvPr/>
        </p:nvSpPr>
        <p:spPr>
          <a:xfrm>
            <a:off x="8963475" y="1809750"/>
            <a:ext cx="78768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F2F4FF"/>
                </a:solidFill>
                <a:latin typeface="Readex Pro"/>
                <a:ea typeface="Readex Pro"/>
                <a:cs typeface="Readex Pro"/>
                <a:sym typeface="Readex Pro"/>
              </a:rPr>
              <a:t>الصور والجداول والرسوم</a:t>
            </a:r>
            <a:endParaRPr/>
          </a:p>
        </p:txBody>
      </p:sp>
      <p:sp>
        <p:nvSpPr>
          <p:cNvPr id="448" name="Google Shape;448;p6"/>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عناصر قابلة للتعديل داخل PowerPoint</a:t>
            </a:r>
            <a:endParaRPr/>
          </a:p>
        </p:txBody>
      </p:sp>
      <p:sp>
        <p:nvSpPr>
          <p:cNvPr id="449" name="Google Shape;449;p6"/>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450" name="Google Shape;450;p6"/>
          <p:cNvSpPr/>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الصور</a:t>
            </a:r>
            <a:endParaRPr/>
          </a:p>
        </p:txBody>
      </p:sp>
      <p:sp>
        <p:nvSpPr>
          <p:cNvPr id="451" name="Google Shape;451;p6"/>
          <p:cNvSpPr/>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اختر صورة واضحة. استخدم «قص» لضبط الإطار، وحافظ على أبعاد الصورة دون تمديد.</a:t>
            </a:r>
            <a:endParaRPr>
              <a:latin typeface="Readex Pro Light"/>
              <a:ea typeface="Readex Pro Light"/>
              <a:cs typeface="Readex Pro Light"/>
              <a:sym typeface="Readex Pro Light"/>
            </a:endParaRPr>
          </a:p>
        </p:txBody>
      </p:sp>
      <p:sp>
        <p:nvSpPr>
          <p:cNvPr id="452" name="Google Shape;452;p6"/>
          <p:cNvSpPr/>
          <p:nvPr/>
        </p:nvSpPr>
        <p:spPr>
          <a:xfrm>
            <a:off x="9505950" y="6524625"/>
            <a:ext cx="733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الرسوم البيانية</a:t>
            </a:r>
            <a:endParaRPr/>
          </a:p>
        </p:txBody>
      </p:sp>
      <p:sp>
        <p:nvSpPr>
          <p:cNvPr id="453" name="Google Shape;453;p6"/>
          <p:cNvSpPr/>
          <p:nvPr/>
        </p:nvSpPr>
        <p:spPr>
          <a:xfrm>
            <a:off x="9505950" y="7229475"/>
            <a:ext cx="733440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اختر الرسم ثم «تحرير البيانات». استبدل الفئات والقيم، وحدّث الوحدة والمصدر.</a:t>
            </a:r>
            <a:endParaRPr>
              <a:latin typeface="Readex Pro Light"/>
              <a:ea typeface="Readex Pro Light"/>
              <a:cs typeface="Readex Pro Light"/>
              <a:sym typeface="Readex Pro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458" name="Shape 458"/>
        <p:cNvGrpSpPr/>
        <p:nvPr/>
      </p:nvGrpSpPr>
      <p:grpSpPr>
        <a:xfrm>
          <a:off x="0" y="0"/>
          <a:ext cx="0" cy="0"/>
          <a:chOff x="0" y="0"/>
          <a:chExt cx="0" cy="0"/>
        </a:xfrm>
      </p:grpSpPr>
      <p:pic>
        <p:nvPicPr>
          <p:cNvPr id="459" name="Google Shape;459;p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60" name="Google Shape;460;p7"/>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461" name="Google Shape;461;p7"/>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4A5590"/>
                </a:solidFill>
                <a:latin typeface="Readex Pro"/>
                <a:ea typeface="Readex Pro"/>
                <a:cs typeface="Readex Pro"/>
                <a:sym typeface="Readex Pro"/>
              </a:rPr>
              <a:t>07</a:t>
            </a:r>
            <a:endParaRPr/>
          </a:p>
        </p:txBody>
      </p:sp>
      <p:sp>
        <p:nvSpPr>
          <p:cNvPr id="462" name="Google Shape;462;p7"/>
          <p:cNvSpPr/>
          <p:nvPr/>
        </p:nvSpPr>
        <p:spPr>
          <a:xfrm>
            <a:off x="1714500" y="385762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احذف الدليل والنصوص الإرشادية والنماذج الزائدة.</a:t>
            </a:r>
            <a:endParaRPr/>
          </a:p>
        </p:txBody>
      </p:sp>
      <p:sp>
        <p:nvSpPr>
          <p:cNvPr id="463" name="Google Shape;463;p7"/>
          <p:cNvSpPr/>
          <p:nvPr/>
        </p:nvSpPr>
        <p:spPr>
          <a:xfrm>
            <a:off x="1714500" y="509587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راجع الخط والمحاذاة والصور، وتأكد من عدم قص النصوص.</a:t>
            </a:r>
            <a:endParaRPr/>
          </a:p>
        </p:txBody>
      </p:sp>
      <p:sp>
        <p:nvSpPr>
          <p:cNvPr id="464" name="Google Shape;464;p7"/>
          <p:cNvSpPr/>
          <p:nvPr/>
        </p:nvSpPr>
        <p:spPr>
          <a:xfrm>
            <a:off x="1714500" y="633412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حدّث الأرقام والمصادر، واختبر رابط النموذج إن أضفته.</a:t>
            </a:r>
            <a:endParaRPr/>
          </a:p>
        </p:txBody>
      </p:sp>
      <p:sp>
        <p:nvSpPr>
          <p:cNvPr id="465" name="Google Shape;465;p7"/>
          <p:cNvSpPr/>
          <p:nvPr/>
        </p:nvSpPr>
        <p:spPr>
          <a:xfrm>
            <a:off x="1714500" y="757237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احفظ العرض باسم المشروع، وافتحه مجددًا بعد الحفظ.</a:t>
            </a:r>
            <a:endParaRPr/>
          </a:p>
        </p:txBody>
      </p:sp>
      <p:sp>
        <p:nvSpPr>
          <p:cNvPr id="466" name="Google Shape;466;p7"/>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6150EA"/>
                </a:solidFill>
                <a:latin typeface="Readex Pro"/>
                <a:ea typeface="Readex Pro"/>
                <a:cs typeface="Readex Pro"/>
                <a:sym typeface="Readex Pro"/>
              </a:rPr>
              <a:t>دليل الاستخدام</a:t>
            </a:r>
            <a:endParaRPr/>
          </a:p>
        </p:txBody>
      </p:sp>
      <p:sp>
        <p:nvSpPr>
          <p:cNvPr id="467" name="Google Shape;467;p7"/>
          <p:cNvSpPr/>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12183F"/>
                </a:solidFill>
                <a:latin typeface="Readex Pro"/>
                <a:ea typeface="Readex Pro"/>
                <a:cs typeface="Readex Pro"/>
                <a:sym typeface="Readex Pro"/>
              </a:rPr>
              <a:t>مراجعة العرض قبل الإرسال</a:t>
            </a:r>
            <a:endParaRPr/>
          </a:p>
        </p:txBody>
      </p:sp>
      <p:sp>
        <p:nvSpPr>
          <p:cNvPr id="468" name="Google Shape;468;p7"/>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قائمة مختصرة لإعداد النسخة النهائية</a:t>
            </a:r>
            <a:endParaRPr/>
          </a:p>
        </p:txBody>
      </p:sp>
      <p:sp>
        <p:nvSpPr>
          <p:cNvPr id="469" name="Google Shape;469;p7"/>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470" name="Google Shape;470;p7"/>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471" name="Google Shape;471;p7"/>
          <p:cNvSpPr/>
          <p:nvPr/>
        </p:nvSpPr>
        <p:spPr>
          <a:xfrm>
            <a:off x="8458200" y="38100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المحتوى</a:t>
            </a:r>
            <a:endParaRPr/>
          </a:p>
        </p:txBody>
      </p:sp>
      <p:sp>
        <p:nvSpPr>
          <p:cNvPr id="472" name="Google Shape;472;p7"/>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473" name="Google Shape;473;p7"/>
          <p:cNvSpPr/>
          <p:nvPr/>
        </p:nvSpPr>
        <p:spPr>
          <a:xfrm>
            <a:off x="8458200" y="50482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الوضوح</a:t>
            </a:r>
            <a:endParaRPr/>
          </a:p>
        </p:txBody>
      </p:sp>
      <p:sp>
        <p:nvSpPr>
          <p:cNvPr id="474" name="Google Shape;474;p7"/>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475" name="Google Shape;475;p7"/>
          <p:cNvSpPr/>
          <p:nvPr/>
        </p:nvSpPr>
        <p:spPr>
          <a:xfrm>
            <a:off x="8458200" y="62865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الدقة</a:t>
            </a:r>
            <a:endParaRPr/>
          </a:p>
        </p:txBody>
      </p:sp>
      <p:sp>
        <p:nvSpPr>
          <p:cNvPr id="476" name="Google Shape;476;p7"/>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477" name="Google Shape;477;p7"/>
          <p:cNvSpPr/>
          <p:nvPr/>
        </p:nvSpPr>
        <p:spPr>
          <a:xfrm>
            <a:off x="8458200" y="75247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ملف التسليم</a:t>
            </a:r>
            <a:endParaRPr/>
          </a:p>
        </p:txBody>
      </p:sp>
      <p:sp>
        <p:nvSpPr>
          <p:cNvPr id="478" name="Google Shape;478;p7"/>
          <p:cNvSpPr/>
          <p:nvPr/>
        </p:nvSpPr>
        <p:spPr>
          <a:xfrm>
            <a:off x="1409700" y="8858250"/>
            <a:ext cx="15430500" cy="6096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950">
                <a:solidFill>
                  <a:srgbClr val="6150EA"/>
                </a:solidFill>
                <a:latin typeface="Readex Pro"/>
                <a:ea typeface="Readex Pro"/>
                <a:cs typeface="Readex Pro"/>
                <a:sym typeface="Readex Pro"/>
              </a:rPr>
              <a:t>ترتيب مقترح: المشكلة، الحل، آلية العمل، النموذج، الأثر، الفريق. اتبع متطلبات المنظم عند التسليم.</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b="1" lang="ar-SA" sz="6450">
                <a:solidFill>
                  <a:srgbClr val="F2F4FF"/>
                </a:solidFill>
                <a:latin typeface="Readex Pro"/>
                <a:ea typeface="Readex Pro"/>
                <a:cs typeface="Readex Pro"/>
                <a:sym typeface="Readex Pro"/>
              </a:rPr>
              <a:t>مثاني</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رفيق ذكي لحفّاظ القرآن الكريم: يكشف أخطاء التسميع، ويعالج الانتقال إلى المتشابهات، ويبني المراجعة من أخطاء الطالب</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فريق إتقان</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97" name="Shape 497"/>
        <p:cNvGrpSpPr/>
        <p:nvPr/>
      </p:nvGrpSpPr>
      <p:grpSpPr>
        <a:xfrm>
          <a:off x="0" y="0"/>
          <a:ext cx="0" cy="0"/>
          <a:chOff x="0" y="0"/>
          <a:chExt cx="0" cy="0"/>
        </a:xfrm>
      </p:grpSpPr>
      <p:pic>
        <p:nvPicPr>
          <p:cNvPr id="498" name="Google Shape;498;p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99" name="Google Shape;499;p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00" name="Google Shape;500;p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مقدمة</a:t>
            </a:r>
            <a:endParaRPr/>
          </a:p>
        </p:txBody>
      </p:sp>
      <p:sp>
        <p:nvSpPr>
          <p:cNvPr id="501" name="Google Shape;501;p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محتويات العرض</a:t>
            </a:r>
            <a:endParaRPr/>
          </a:p>
        </p:txBody>
      </p:sp>
      <p:sp>
        <p:nvSpPr>
          <p:cNvPr id="502" name="Google Shape;502;p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03" name="Google Shape;503;p9"/>
          <p:cNvSpPr txBox="1"/>
          <p:nvPr>
            <p:ph idx="2" type="body"/>
          </p:nvPr>
        </p:nvSpPr>
        <p:spPr>
          <a:xfrm>
            <a:off x="12077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504" name="Google Shape;504;p9"/>
          <p:cNvSpPr txBox="1"/>
          <p:nvPr>
            <p:ph idx="3" type="body"/>
          </p:nvPr>
        </p:nvSpPr>
        <p:spPr>
          <a:xfrm>
            <a:off x="12077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المشكلة والحل</a:t>
            </a:r>
            <a:endParaRPr/>
          </a:p>
        </p:txBody>
      </p:sp>
      <p:sp>
        <p:nvSpPr>
          <p:cNvPr id="505" name="Google Shape;505;p9"/>
          <p:cNvSpPr txBox="1"/>
          <p:nvPr>
            <p:ph idx="4" type="body"/>
          </p:nvPr>
        </p:nvSpPr>
        <p:spPr>
          <a:xfrm>
            <a:off x="12077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لماذا مثاني، وما فكرته</a:t>
            </a:r>
            <a:endParaRPr/>
          </a:p>
        </p:txBody>
      </p:sp>
      <p:sp>
        <p:nvSpPr>
          <p:cNvPr id="506" name="Google Shape;506;p9"/>
          <p:cNvSpPr txBox="1"/>
          <p:nvPr>
            <p:ph idx="5" type="body"/>
          </p:nvPr>
        </p:nvSpPr>
        <p:spPr>
          <a:xfrm>
            <a:off x="6743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507" name="Google Shape;507;p9"/>
          <p:cNvSpPr txBox="1"/>
          <p:nvPr>
            <p:ph idx="6" type="body"/>
          </p:nvPr>
        </p:nvSpPr>
        <p:spPr>
          <a:xfrm>
            <a:off x="6743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التسميع والمتشابهات</a:t>
            </a:r>
            <a:endParaRPr/>
          </a:p>
        </p:txBody>
      </p:sp>
      <p:sp>
        <p:nvSpPr>
          <p:cNvPr id="508" name="Google Shape;508;p9"/>
          <p:cNvSpPr txBox="1"/>
          <p:nvPr>
            <p:ph idx="7" type="body"/>
          </p:nvPr>
        </p:nvSpPr>
        <p:spPr>
          <a:xfrm>
            <a:off x="6743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كشف الأخطاء وعلاج الانتقال</a:t>
            </a:r>
            <a:endParaRPr>
              <a:latin typeface="Readex Pro Light"/>
              <a:ea typeface="Readex Pro Light"/>
              <a:cs typeface="Readex Pro Light"/>
              <a:sym typeface="Readex Pro Light"/>
            </a:endParaRPr>
          </a:p>
        </p:txBody>
      </p:sp>
      <p:sp>
        <p:nvSpPr>
          <p:cNvPr id="509" name="Google Shape;509;p9"/>
          <p:cNvSpPr txBox="1"/>
          <p:nvPr>
            <p:ph idx="8" type="body"/>
          </p:nvPr>
        </p:nvSpPr>
        <p:spPr>
          <a:xfrm>
            <a:off x="1409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510" name="Google Shape;510;p9"/>
          <p:cNvSpPr txBox="1"/>
          <p:nvPr>
            <p:ph idx="9" type="body"/>
          </p:nvPr>
        </p:nvSpPr>
        <p:spPr>
          <a:xfrm>
            <a:off x="1409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الموثوقية</a:t>
            </a:r>
            <a:endParaRPr/>
          </a:p>
        </p:txBody>
      </p:sp>
      <p:sp>
        <p:nvSpPr>
          <p:cNvPr id="511" name="Google Shape;511;p9"/>
          <p:cNvSpPr txBox="1"/>
          <p:nvPr>
            <p:ph idx="13" type="body"/>
          </p:nvPr>
        </p:nvSpPr>
        <p:spPr>
          <a:xfrm>
            <a:off x="1409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الأرقام والمصادر المعتمدة</a:t>
            </a:r>
            <a:endParaRPr>
              <a:latin typeface="Readex Pro Light"/>
              <a:ea typeface="Readex Pro Light"/>
              <a:cs typeface="Readex Pro Light"/>
              <a:sym typeface="Readex Pro Light"/>
            </a:endParaRPr>
          </a:p>
        </p:txBody>
      </p:sp>
      <p:sp>
        <p:nvSpPr>
          <p:cNvPr id="512" name="Google Shape;512;p9"/>
          <p:cNvSpPr txBox="1"/>
          <p:nvPr>
            <p:ph idx="14" type="body"/>
          </p:nvPr>
        </p:nvSpPr>
        <p:spPr>
          <a:xfrm>
            <a:off x="12077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513" name="Google Shape;513;p9"/>
          <p:cNvSpPr txBox="1"/>
          <p:nvPr>
            <p:ph idx="15" type="body"/>
          </p:nvPr>
        </p:nvSpPr>
        <p:spPr>
          <a:xfrm>
            <a:off x="12077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الخطة والفريق</a:t>
            </a:r>
            <a:endParaRPr/>
          </a:p>
        </p:txBody>
      </p:sp>
      <p:sp>
        <p:nvSpPr>
          <p:cNvPr id="514" name="Google Shape;514;p9"/>
          <p:cNvSpPr txBox="1"/>
          <p:nvPr>
            <p:ph idx="16" type="body"/>
          </p:nvPr>
        </p:nvSpPr>
        <p:spPr>
          <a:xfrm>
            <a:off x="12077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فريق إتقان ومراحل التطوير</a:t>
            </a:r>
            <a:endParaRPr>
              <a:latin typeface="Readex Pro Light"/>
              <a:ea typeface="Readex Pro Light"/>
              <a:cs typeface="Readex Pro Light"/>
              <a:sym typeface="Readex Pro Light"/>
            </a:endParaRPr>
          </a:p>
        </p:txBody>
      </p:sp>
      <p:sp>
        <p:nvSpPr>
          <p:cNvPr id="515" name="Google Shape;515;p9"/>
          <p:cNvSpPr txBox="1"/>
          <p:nvPr>
            <p:ph idx="17" type="body"/>
          </p:nvPr>
        </p:nvSpPr>
        <p:spPr>
          <a:xfrm>
            <a:off x="6743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516" name="Google Shape;516;p9"/>
          <p:cNvSpPr txBox="1"/>
          <p:nvPr>
            <p:ph idx="18" type="body"/>
          </p:nvPr>
        </p:nvSpPr>
        <p:spPr>
          <a:xfrm>
            <a:off x="6743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بيانات المحتوى</a:t>
            </a:r>
            <a:endParaRPr/>
          </a:p>
        </p:txBody>
      </p:sp>
      <p:sp>
        <p:nvSpPr>
          <p:cNvPr id="517" name="Google Shape;517;p9"/>
          <p:cNvSpPr txBox="1"/>
          <p:nvPr>
            <p:ph idx="19" type="body"/>
          </p:nvPr>
        </p:nvSpPr>
        <p:spPr>
          <a:xfrm>
            <a:off x="6743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المتشابهات في المصحف</a:t>
            </a:r>
            <a:endParaRPr>
              <a:latin typeface="Readex Pro Light"/>
              <a:ea typeface="Readex Pro Light"/>
              <a:cs typeface="Readex Pro Light"/>
              <a:sym typeface="Readex Pro Light"/>
            </a:endParaRPr>
          </a:p>
        </p:txBody>
      </p:sp>
      <p:sp>
        <p:nvSpPr>
          <p:cNvPr id="518" name="Google Shape;518;p9"/>
          <p:cNvSpPr txBox="1"/>
          <p:nvPr>
            <p:ph idx="20" type="body"/>
          </p:nvPr>
        </p:nvSpPr>
        <p:spPr>
          <a:xfrm>
            <a:off x="1409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06</a:t>
            </a:r>
            <a:endParaRPr/>
          </a:p>
        </p:txBody>
      </p:sp>
      <p:sp>
        <p:nvSpPr>
          <p:cNvPr id="519" name="Google Shape;519;p9"/>
          <p:cNvSpPr txBox="1"/>
          <p:nvPr>
            <p:ph idx="21" type="body"/>
          </p:nvPr>
        </p:nvSpPr>
        <p:spPr>
          <a:xfrm>
            <a:off x="1409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مكونات الحل</a:t>
            </a:r>
            <a:endParaRPr/>
          </a:p>
        </p:txBody>
      </p:sp>
      <p:sp>
        <p:nvSpPr>
          <p:cNvPr id="520" name="Google Shape;520;p9"/>
          <p:cNvSpPr txBox="1"/>
          <p:nvPr>
            <p:ph idx="22" type="body"/>
          </p:nvPr>
        </p:nvSpPr>
        <p:spPr>
          <a:xfrm>
            <a:off x="1409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آلية العمل والواجهات</a:t>
            </a:r>
            <a:endParaRPr>
              <a:latin typeface="Readex Pro Light"/>
              <a:ea typeface="Readex Pro Light"/>
              <a:cs typeface="Readex Pro Light"/>
              <a:sym typeface="Readex Pr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25"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p:nvPr>
            <p:ph idx="1" type="body"/>
          </p:nvPr>
        </p:nvSpPr>
        <p:spPr>
          <a:xfrm>
            <a:off x="13125450" y="3143250"/>
            <a:ext cx="3619500" cy="1238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400"/>
              <a:buNone/>
            </a:pPr>
            <a:r>
              <a:rPr b="1" lang="ar-SA" sz="8400">
                <a:solidFill>
                  <a:srgbClr val="2EF2C2"/>
                </a:solidFill>
                <a:latin typeface="Readex Pro"/>
                <a:ea typeface="Readex Pro"/>
                <a:cs typeface="Readex Pro"/>
                <a:sym typeface="Readex Pro"/>
              </a:rPr>
              <a:t>01</a:t>
            </a:r>
            <a:endParaRPr/>
          </a:p>
        </p:txBody>
      </p:sp>
      <p:sp>
        <p:nvSpPr>
          <p:cNvPr id="528" name="Google Shape;528;p10"/>
          <p:cNvSpPr txBox="1"/>
          <p:nvPr>
            <p:ph type="title"/>
          </p:nvPr>
        </p:nvSpPr>
        <p:spPr>
          <a:xfrm>
            <a:off x="9179000" y="4810125"/>
            <a:ext cx="7566000" cy="1238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000"/>
              <a:buNone/>
            </a:pPr>
            <a:r>
              <a:rPr b="1" lang="ar-SA" sz="6000">
                <a:solidFill>
                  <a:srgbClr val="F2F4FF"/>
                </a:solidFill>
                <a:latin typeface="Readex Pro"/>
                <a:ea typeface="Readex Pro"/>
                <a:cs typeface="Readex Pro"/>
                <a:sym typeface="Readex Pro"/>
              </a:rPr>
              <a:t>المشكلة والحل</a:t>
            </a:r>
            <a:endParaRPr/>
          </a:p>
        </p:txBody>
      </p:sp>
      <p:sp>
        <p:nvSpPr>
          <p:cNvPr id="529" name="Google Shape;529;p10"/>
          <p:cNvSpPr txBox="1"/>
          <p:nvPr>
            <p:ph idx="2" type="body"/>
          </p:nvPr>
        </p:nvSpPr>
        <p:spPr>
          <a:xfrm>
            <a:off x="9729275" y="6572250"/>
            <a:ext cx="7015500" cy="675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0" lang="ar-SA" sz="2850">
                <a:solidFill>
                  <a:srgbClr val="CBCFE6"/>
                </a:solidFill>
                <a:latin typeface="Readex Pro"/>
                <a:ea typeface="Readex Pro"/>
                <a:cs typeface="Readex Pro"/>
                <a:sym typeface="Readex Pro"/>
              </a:rPr>
              <a:t>لماذا يحتاج الحافظ إلى رفيق بين حلقة وأخرى؟</a:t>
            </a:r>
            <a:endParaRPr/>
          </a:p>
        </p:txBody>
      </p:sp>
      <p:pic>
        <p:nvPicPr>
          <p:cNvPr id="530" name="Google Shape;530;p1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المشكلة</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تحديات الحافظ اليومية</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أربع مشكلات تواجه الطالب بين حلقة وأخرى</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النسيان بعد الحفظ</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يتفلّت المحفوظ إذا غابت المراجعة المنتظمة المبنية على مواضع الضعف.</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التباس المتشابهات</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ينتقل الحافظ من آية إلى نظيرتها دون أن يشعر، ويصعب عليه تمييز الفرق.</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غياب المُسمِّع</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لا يتوفر للطالب دائماً من يستمع إليه ويصحّح له كلمةً كلمة.</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الحفظ دون فهم</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يكرّر الطالب الألفاظ دون أن يرجع إلى معناها من مصدر موثوق.</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55" name="Shape 555"/>
        <p:cNvGrpSpPr/>
        <p:nvPr/>
      </p:nvGrpSpPr>
      <p:grpSpPr>
        <a:xfrm>
          <a:off x="0" y="0"/>
          <a:ext cx="0" cy="0"/>
          <a:chOff x="0" y="0"/>
          <a:chExt cx="0" cy="0"/>
        </a:xfrm>
      </p:grpSpPr>
      <p:pic>
        <p:nvPicPr>
          <p:cNvPr id="556" name="Google Shape;556;p12"/>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57" name="Google Shape;557;p12"/>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8" name="Google Shape;558;p12"/>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59" name="Google Shape;559;p12"/>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الحل</a:t>
            </a:r>
            <a:endParaRPr/>
          </a:p>
        </p:txBody>
      </p:sp>
      <p:sp>
        <p:nvSpPr>
          <p:cNvPr id="560" name="Google Shape;560;p12"/>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احفظ ما تفهم، وافهم ما تحفظ</a:t>
            </a:r>
            <a:endParaRPr/>
          </a:p>
        </p:txBody>
      </p:sp>
      <p:sp>
        <p:nvSpPr>
          <p:cNvPr id="561" name="Google Shape;561;p1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62" name="Google Shape;562;p12"/>
          <p:cNvSpPr txBox="1"/>
          <p:nvPr>
            <p:ph idx="2" type="body"/>
          </p:nvPr>
        </p:nvSpPr>
        <p:spPr>
          <a:xfrm>
            <a:off x="5886450" y="3604500"/>
            <a:ext cx="10953900" cy="22398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3225"/>
              <a:buNone/>
            </a:pPr>
            <a:r>
              <a:rPr lang="ar-SA" sz="3225">
                <a:solidFill>
                  <a:srgbClr val="F2F4FF"/>
                </a:solidFill>
                <a:latin typeface="Readex Pro Light"/>
                <a:ea typeface="Readex Pro Light"/>
                <a:cs typeface="Readex Pro Light"/>
                <a:sym typeface="Readex Pro Light"/>
              </a:rPr>
              <a:t>مثاني تطبيق جوال يرافق الحافظ في كل وجه: يعرض المعنى من التفسير الميسر، ويستمع إلى تسميعه من أي موضع، ويكشف أخطاءه كلمةً كلمة، ويعالج الانتقال إلى الآيات المتشابهة بمقارنة ملوّنة، ثم يبني له مراجعة متباعدة من أخطائه.</a:t>
            </a:r>
            <a:endParaRPr>
              <a:latin typeface="Readex Pro Light"/>
              <a:ea typeface="Readex Pro Light"/>
              <a:cs typeface="Readex Pro Light"/>
              <a:sym typeface="Readex Pro Light"/>
            </a:endParaRPr>
          </a:p>
        </p:txBody>
      </p:sp>
      <p:sp>
        <p:nvSpPr>
          <p:cNvPr id="563" name="Google Shape;563;p12"/>
          <p:cNvSpPr txBox="1"/>
          <p:nvPr>
            <p:ph idx="3" type="body"/>
          </p:nvPr>
        </p:nvSpPr>
        <p:spPr>
          <a:xfrm>
            <a:off x="5886450" y="7239000"/>
            <a:ext cx="1095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700"/>
              <a:buNone/>
            </a:pPr>
            <a:r>
              <a:rPr b="1" lang="ar-SA" sz="2700">
                <a:solidFill>
                  <a:srgbClr val="2EF2C2"/>
                </a:solidFill>
                <a:latin typeface="Readex Pro"/>
                <a:ea typeface="Readex Pro"/>
                <a:cs typeface="Readex Pro"/>
                <a:sym typeface="Readex Pro"/>
              </a:rPr>
              <a:t>خصوصية الطالب أولاً</a:t>
            </a:r>
            <a:endParaRPr/>
          </a:p>
        </p:txBody>
      </p:sp>
      <p:sp>
        <p:nvSpPr>
          <p:cNvPr id="564" name="Google Shape;564;p12"/>
          <p:cNvSpPr txBox="1"/>
          <p:nvPr>
            <p:ph idx="4" type="body"/>
          </p:nvPr>
        </p:nvSpPr>
        <p:spPr>
          <a:xfrm>
            <a:off x="5886450" y="8001000"/>
            <a:ext cx="10953900" cy="857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سجل الأخطاء والتسجيلات يبقى على جهاز المستخدم، والتطبيق متاح بالعربية والإنجليزية والأردية.</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آلية العمل</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علاج الانتقال إلى المتشابه</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576" name="Google Shape;576;p13" descr="wide.png"/>
          <p:cNvPicPr>
            <a:picLocks noGrp="1" noChangeAspect="1"/>
          </p:cNvPicPr>
          <p:nvPr>
            <p:ph idx="2" type="pic"/>
          </p:nvPr>
        </p:nvPicPr>
        <p:blipFill>
          <a:blip r:embed="rId5"/>
          <a:srcRect t="1" b="1"/>
          <a:stretch>
            <a:fillRect/>
          </a:stretch>
        </p:blipFill>
        <p:spPr>
          <a:xfrm>
            <a:off x="1428750" y="4048125"/>
            <a:ext cx="8382000" cy="4714800"/>
          </a:xfrm>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نراه؟</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نتيجة تسميع: الأخضر صحيح والأحمر موضع خطأ، ومقارنة الآية بنظيرتها مع سياق كل موضع.</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يهم الطالب؟</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يعرف أين أخطأ بالضبط، ويعود إليه الوجه في المراجعة بحسب أخطائه.</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التسميع والمتشابهات</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التسميع المباشر كلمةً كلمة</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592" name="Google Shape;592;p14" descr="sq_recite.png"/>
          <p:cNvPicPr>
            <a:picLocks noGrp="1" noChangeAspect="1"/>
          </p:cNvPicPr>
          <p:nvPr>
            <p:ph idx="2" type="pic"/>
          </p:nvPr>
        </p:nvPicPr>
        <p:blipFill>
          <a:blip r:embed="rId5"/>
          <a:srcRect/>
          <a:stretch>
            <a:fillRect/>
          </a:stretch>
        </p:blipFill>
        <p:spPr>
          <a:xfrm>
            <a:off x="2190750" y="2999025"/>
            <a:ext cx="5715000" cy="5715000"/>
          </a:xfrm>
        </p:spPr>
      </p:pic>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rPr b="1" lang="ar-SA" sz="3450">
                <a:solidFill>
                  <a:srgbClr val="2EF2C2"/>
                </a:solidFill>
                <a:latin typeface="Readex Pro"/>
                <a:ea typeface="Readex Pro"/>
                <a:cs typeface="Readex Pro"/>
                <a:sym typeface="Readex Pro"/>
              </a:rPr>
              <a:t>يسمّع الطالب والوجه مخفي، فينكشف ما قرأه</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rPr lang="ar-SA" sz="2850">
                <a:solidFill>
                  <a:srgbClr val="F2F4FF"/>
                </a:solidFill>
                <a:latin typeface="Readex Pro Light"/>
                <a:ea typeface="Readex Pro Light"/>
                <a:cs typeface="Readex Pro Light"/>
                <a:sym typeface="Readex Pro Light"/>
              </a:rPr>
              <a:t>يستمع مثاني إلى التلاوة، ويكشف الكلمات تباعاً، ويحدد الإسقاط والإبدال والزيادة، وينبّه عند الانتقال إلى آية متشابهة.</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rPr b="0" lang="ar-SA" sz="1950">
                <a:solidFill>
                  <a:srgbClr val="CBCFE6"/>
                </a:solidFill>
                <a:latin typeface="Readex Pro"/>
                <a:ea typeface="Readex Pro"/>
                <a:cs typeface="Readex Pro"/>
                <a:sym typeface="Readex Pro"/>
              </a:rPr>
              <a:t>لقطة من التطبيق: نتيجة تسميع سورة الملك</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مكونات الحل</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ما يغطيه مثاني اليوم</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مكونات النسخة الحالية، وليست نتائج استخدام</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604</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وجهاً</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المصحف كاملاً برواية حفص</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6,236</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آية</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بمعناها من التفسير الميسر</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1,481</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آية لها متشابه</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في فهرس المتشابهات</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77,797</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كلمة مفهرسة</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للتعرف على موضع القراءة</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المصدر: بيانات التطبيق، أكتوبر 2026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625" name="Shape 625"/>
        <p:cNvGrpSpPr/>
        <p:nvPr/>
      </p:nvGrpSpPr>
      <p:grpSpPr>
        <a:xfrm>
          <a:off x="0" y="0"/>
          <a:ext cx="0" cy="0"/>
          <a:chOff x="0" y="0"/>
          <a:chExt cx="0" cy="0"/>
        </a:xfrm>
      </p:grpSpPr>
      <p:pic>
        <p:nvPicPr>
          <p:cNvPr id="626" name="Google Shape;626;p16"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627" name="Google Shape;627;p1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628" name="Google Shape;628;p16"/>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لا يفسّر مثاني من عنده،</a:t>
            </a:r>
            <a:endParaRPr/>
          </a:p>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ولا يغيّر حرفاً من المصحف</a:t>
            </a:r>
            <a:endParaRPr/>
          </a:p>
        </p:txBody>
      </p:sp>
      <p:sp>
        <p:nvSpPr>
          <p:cNvPr id="629" name="Google Shape;629;p16"/>
          <p:cNvSpPr txBox="1"/>
          <p:nvPr>
            <p:ph idx="1" type="body"/>
          </p:nvPr>
        </p:nvSpPr>
        <p:spPr>
          <a:xfrm>
            <a:off x="4202375" y="6905625"/>
            <a:ext cx="10752000" cy="5667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6150EA"/>
                </a:solidFill>
                <a:latin typeface="Readex Pro"/>
                <a:ea typeface="Readex Pro"/>
                <a:cs typeface="Readex Pro"/>
                <a:sym typeface="Readex Pro"/>
              </a:rPr>
              <a:t>كل معنى يُعرض بمصدره، والمحتوى الاجتهادي يبقى مسودة حتى يعتمده متخصص شرعي</a:t>
            </a:r>
            <a:endParaRPr/>
          </a:p>
        </p:txBody>
      </p:sp>
      <p:pic>
        <p:nvPicPr>
          <p:cNvPr id="631" name="Google Shape;631;p16"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الموثوقية</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المصادر المعتمدة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كل ما يعرضه مثاني منسوب إلى مصدره</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طريقة العرض</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الجهة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المصدر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المكوّن</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دون أي تعديل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موافق لطبعة مجمع الملك فهد</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Tanzil برواية حفص</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نص المصحف</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مع ذكر المصدر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مجمع الملك فهد</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التفسير الميسر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معاني الآيات</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نصاً كما هو</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كتاب مطبوع</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السراج في بيان غريب القرآن</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غريب الكلمات</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يُراجع بشرياً</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مثاني، دون نموذج لغوي</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حساب نصي على المصحف كاملاً</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المتشابهات</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مقدمات السور والفوائد من موسوعة التفسير (الدرر السنية) بإذن الجهة المنظمة.</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الخطة</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خطة التطوير</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المراحل بعد النسخة الأولى، دون مواعيد ملزمة</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النموذج الأولي</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منجز</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تطبيق منشور يعمل على الجوال</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المراجعة الشرعية</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المرحلة التالية</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اعتماد مسودات المحتوى من متخصص</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التجربة الميدانية</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المرحلة التالية</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تجربة مع طلاب حلقات التحفيظ</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الترجمة</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لاحقاً</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التفسير الميسر بالإنجليزية والأردية</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تعرّف صوتي أدق</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لاحقاً</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نموذج مدرّب على التلاوة</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الخطة والفريق</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فريق العمل</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فريق إتقان</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6" name="Google Shape;696;p19"/>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يزن عبدالله العوبثاني</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عضو الفريق</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9" name="Google Shape;699;p19"/>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عبدالرحمن سعيد مسعود</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عضو الفريق</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المستفيدون</a:t>
            </a:r>
            <a:endParaRPr/>
          </a:p>
        </p:txBody>
      </p:sp>
      <p:sp>
        <p:nvSpPr>
          <p:cNvPr id="711" name="Google Shape;711;p20"/>
          <p:cNvSpPr txBox="1"/>
          <p:nvPr>
            <p:ph type="title"/>
          </p:nvPr>
        </p:nvSpPr>
        <p:spPr>
          <a:xfrm>
            <a:off x="6637950" y="1809750"/>
            <a:ext cx="102024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لمن صُمّم مثاني؟</a:t>
            </a:r>
            <a:endParaRPr/>
          </a:p>
        </p:txBody>
      </p:sp>
      <p:sp>
        <p:nvSpPr>
          <p:cNvPr id="712" name="Google Shape;712;p20"/>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للطالب في أي مرحلة من الحفظ، داخل الحلقة وخارجها</a:t>
            </a:r>
            <a:endParaRPr/>
          </a:p>
        </p:txBody>
      </p:sp>
      <p:sp>
        <p:nvSpPr>
          <p:cNvPr id="713" name="Google Shape;713;p2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714" name="Google Shape;714;p20"/>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طالب الحلقة</a:t>
            </a:r>
            <a:endParaRPr/>
          </a:p>
        </p:txBody>
      </p:sp>
      <p:sp>
        <p:nvSpPr>
          <p:cNvPr id="715" name="Google Shape;715;p20"/>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يسمّع لنفسه بين الحلقات، ويصل إلى الحلقة وقد عالج أخطاءه.</a:t>
            </a:r>
            <a:endParaRPr/>
          </a:p>
        </p:txBody>
      </p:sp>
      <p:sp>
        <p:nvSpPr>
          <p:cNvPr id="716" name="Google Shape;716;p20"/>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الحافظ المراجِع</a:t>
            </a:r>
            <a:endParaRPr/>
          </a:p>
        </p:txBody>
      </p:sp>
      <p:sp>
        <p:nvSpPr>
          <p:cNvPr id="717" name="Google Shape;717;p20"/>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يبني مراجعته من مواضع ضعفه، ويضبط المتشابهات.</a:t>
            </a:r>
            <a:endParaRPr/>
          </a:p>
        </p:txBody>
      </p:sp>
      <p:sp>
        <p:nvSpPr>
          <p:cNvPr id="718" name="Google Shape;718;p20"/>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المبتدئ في الحفظ</a:t>
            </a:r>
            <a:endParaRPr/>
          </a:p>
        </p:txBody>
      </p:sp>
      <p:sp>
        <p:nvSpPr>
          <p:cNvPr id="719" name="Google Shape;719;p20"/>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ورد يومي بمقدار يناسبه، ومعنى كل آية بين يديه.</a:t>
            </a:r>
            <a:endParaRPr/>
          </a:p>
        </p:txBody>
      </p:sp>
      <p:sp>
        <p:nvSpPr>
          <p:cNvPr id="720" name="Google Shape;720;p20"/>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غير الناطق بالعربية</a:t>
            </a:r>
            <a:endParaRPr/>
          </a:p>
        </p:txBody>
      </p:sp>
      <p:sp>
        <p:nvSpPr>
          <p:cNvPr id="721" name="Google Shape;721;p20"/>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واجهة بالإنجليزية والأردية، والمصحف بنصه العربي.</a:t>
            </a:r>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graphicFrame>
        <p:nvGraphicFramePr>
          <p:cNvPr id="731" name="Google Shape;731;p21"/>
          <p:cNvGraphicFramePr/>
          <p:nvPr/>
        </p:nvGraphicFramePr>
        <p:xfrm>
          <a:off x="171450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التفاصيل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البند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بعد التحدي</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فريق إتقان مع متخصص شرعي</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اعتماد مسودات التدبر والفوائد قبل إظهارها للطلاب</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المراجعة الشرعية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بعد المراجعة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فريق إتقان</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تجربة مع طلاب حلقات وقياس دقة كشف الأخطاء والمتشابهات</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التجربة الميدانية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لاحقاً</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فريق إتقان</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التفسير الميسر المترجم بالإنجليزية والأردية بعد الإذن</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الترجمة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لاحقاً</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فريق إتقان</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خادم تعرّف بنموذج مدرّب على التلاوة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التعرف الصوتي</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bl>
          </a:graphicData>
        </a:graphic>
      </p:graphicFrame>
      <p:sp>
        <p:nvSpPr>
          <p:cNvPr id="732" name="Google Shape;732;p2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الخطة</a:t>
            </a:r>
            <a:endParaRPr/>
          </a:p>
        </p:txBody>
      </p:sp>
      <p:sp>
        <p:nvSpPr>
          <p:cNvPr id="733" name="Google Shape;733;p2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مهام المرحلة القادمة</a:t>
            </a:r>
            <a:endParaRPr/>
          </a:p>
        </p:txBody>
      </p:sp>
      <p:sp>
        <p:nvSpPr>
          <p:cNvPr id="734" name="Google Shape;734;p2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تفصيل المراحل المقترحة بعد النسخة الأولى</a:t>
            </a:r>
            <a:endParaRPr/>
          </a:p>
        </p:txBody>
      </p:sp>
      <p:sp>
        <p:nvSpPr>
          <p:cNvPr id="735" name="Google Shape;735;p21"/>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4A5590"/>
                </a:solidFill>
                <a:latin typeface="Readex Pro"/>
                <a:ea typeface="Readex Pro"/>
                <a:cs typeface="Readex Pro"/>
                <a:sym typeface="Readex Pro"/>
              </a:rPr>
              <a:t>المواعيد تقديرية وغير ملزمة.</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g3fa608e3085_0_0"/>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42" name="Google Shape;742;g3fa608e3085_0_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بيانات المحتوى</a:t>
            </a:r>
            <a:endParaRPr/>
          </a:p>
        </p:txBody>
      </p:sp>
      <p:sp>
        <p:nvSpPr>
          <p:cNvPr id="743" name="Google Shape;743;g3fa608e3085_0_0"/>
          <p:cNvSpPr txBox="1"/>
          <p:nvPr>
            <p:ph type="title"/>
          </p:nvPr>
        </p:nvSpPr>
        <p:spPr>
          <a:xfrm>
            <a:off x="1409700" y="15811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أين تكثر الآيات المتشابهة؟</a:t>
            </a:r>
            <a:endParaRPr/>
          </a:p>
        </p:txBody>
      </p:sp>
      <p:sp>
        <p:nvSpPr>
          <p:cNvPr id="744" name="Google Shape;744;g3fa608e3085_0_0"/>
          <p:cNvSpPr txBox="1"/>
          <p:nvPr>
            <p:ph idx="2" type="body"/>
          </p:nvPr>
        </p:nvSpPr>
        <p:spPr>
          <a:xfrm>
            <a:off x="1409700" y="2324100"/>
            <a:ext cx="15430500" cy="685800"/>
          </a:xfrm>
          <a:prstGeom prst="rect">
            <a:avLst/>
          </a:prstGeom>
          <a:noFill/>
          <a:ln>
            <a:noFill/>
          </a:ln>
        </p:spPr>
        <p:txBody>
          <a:bodyPr anchorCtr="0" anchor="ctr"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نسبة الآيات التي لها نظير متشابه في كل ستة أجزاء</a:t>
            </a:r>
            <a:endParaRPr/>
          </a:p>
        </p:txBody>
      </p:sp>
      <p:sp>
        <p:nvSpPr>
          <p:cNvPr id="745" name="Google Shape;745;g3fa608e3085_0_0"/>
          <p:cNvSpPr txBox="1"/>
          <p:nvPr>
            <p:ph idx="12" type="sldNum"/>
          </p:nvPr>
        </p:nvSpPr>
        <p:spPr>
          <a:xfrm>
            <a:off x="1066800" y="9467850"/>
            <a:ext cx="9525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46" name="Google Shape;746;g3fa608e3085_0_0"/>
          <p:cNvSpPr txBox="1"/>
          <p:nvPr>
            <p:ph idx="3" type="body"/>
          </p:nvPr>
        </p:nvSpPr>
        <p:spPr>
          <a:xfrm>
            <a:off x="2095500" y="8905875"/>
            <a:ext cx="141921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الوحدة: % من آيات المجموعة    المصدر: فهرس المتشابهات في مثاني، أكتوبر 2026</a:t>
            </a:r>
            <a:endParaRPr/>
          </a:p>
        </p:txBody>
      </p:sp>
      <p:sp>
        <p:nvSpPr>
          <p:cNvPr id="747" name="Google Shape;747;g3fa608e3085_0_0"/>
          <p:cNvSpPr txBox="1"/>
          <p:nvPr/>
        </p:nvSpPr>
        <p:spPr>
          <a:xfrm>
            <a:off x="2095308" y="8033292"/>
            <a:ext cx="14685648" cy="490752"/>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مجموعات الأجزاء من أول المصحف إلى آخره</a:t>
            </a:r>
            <a:endParaRPr sz="1451">
              <a:solidFill>
                <a:srgbClr val="FFFFFF"/>
              </a:solidFill>
              <a:latin typeface="Readex Pro SemiBold"/>
              <a:ea typeface="Readex Pro SemiBold"/>
              <a:cs typeface="Readex Pro SemiBold"/>
              <a:sym typeface="Readex Pro SemiBold"/>
            </a:endParaRPr>
          </a:p>
        </p:txBody>
      </p:sp>
      <p:grpSp>
        <p:nvGrpSpPr>
          <p:cNvPr id="748" name="Google Shape;748;g3fa608e3085_0_0"/>
          <p:cNvGrpSpPr/>
          <p:nvPr/>
        </p:nvGrpSpPr>
        <p:grpSpPr>
          <a:xfrm>
            <a:off x="5783050" y="6198662"/>
            <a:ext cx="1723097" cy="1669889"/>
            <a:chOff x="7838420" y="2784121"/>
            <a:chExt cx="144600" cy="1150458"/>
          </a:xfrm>
        </p:grpSpPr>
        <p:grpSp>
          <p:nvGrpSpPr>
            <p:cNvPr id="749" name="Google Shape;749;g3fa608e3085_0_0"/>
            <p:cNvGrpSpPr/>
            <p:nvPr/>
          </p:nvGrpSpPr>
          <p:grpSpPr>
            <a:xfrm>
              <a:off x="7838420" y="3122221"/>
              <a:ext cx="144600" cy="812358"/>
              <a:chOff x="7838420" y="3122221"/>
              <a:chExt cx="144600" cy="812358"/>
            </a:xfrm>
          </p:grpSpPr>
          <p:sp>
            <p:nvSpPr>
              <p:cNvPr id="750" name="Google Shape;750;g3fa608e3085_0_0"/>
              <p:cNvSpPr/>
              <p:nvPr/>
            </p:nvSpPr>
            <p:spPr>
              <a:xfrm>
                <a:off x="7838420" y="3122221"/>
                <a:ext cx="144600" cy="812358"/>
              </a:xfrm>
              <a:prstGeom prst="roundRect">
                <a:avLst>
                  <a:gd fmla="val 16667" name="adj"/>
                </a:avLst>
              </a:prstGeom>
              <a:solidFill>
                <a:srgbClr val="E0D9FB"/>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51" name="Google Shape;751;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الأجزاء 19 إلى 24</a:t>
                </a:r>
                <a:endParaRPr sz="1161">
                  <a:latin typeface="Readex Pro"/>
                  <a:ea typeface="Readex Pro"/>
                  <a:cs typeface="Readex Pro"/>
                  <a:sym typeface="Readex Pro"/>
                </a:endParaRPr>
              </a:p>
            </p:txBody>
          </p:sp>
        </p:grpSp>
        <p:sp>
          <p:nvSpPr>
            <p:cNvPr id="752" name="Google Shape;752;g3fa608e3085_0_0"/>
            <p:cNvSpPr txBox="1"/>
            <p:nvPr/>
          </p:nvSpPr>
          <p:spPr>
            <a:xfrm>
              <a:off x="7838420" y="2784121"/>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25</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53" name="Google Shape;753;g3fa608e3085_0_0"/>
          <p:cNvGrpSpPr/>
          <p:nvPr/>
        </p:nvGrpSpPr>
        <p:grpSpPr>
          <a:xfrm>
            <a:off x="2888200" y="6670270"/>
            <a:ext cx="1723200" cy="1198282"/>
            <a:chOff x="2888200" y="6670270"/>
            <a:chExt cx="1723200" cy="1198282"/>
          </a:xfrm>
        </p:grpSpPr>
        <p:grpSp>
          <p:nvGrpSpPr>
            <p:cNvPr id="754" name="Google Shape;754;g3fa608e3085_0_0"/>
            <p:cNvGrpSpPr/>
            <p:nvPr/>
          </p:nvGrpSpPr>
          <p:grpSpPr>
            <a:xfrm>
              <a:off x="2888300" y="7161070"/>
              <a:ext cx="1723097" cy="707482"/>
              <a:chOff x="7838420" y="7161070"/>
              <a:chExt cx="144600" cy="707482"/>
            </a:xfrm>
          </p:grpSpPr>
          <p:sp>
            <p:nvSpPr>
              <p:cNvPr id="755" name="Google Shape;755;g3fa608e3085_0_0"/>
              <p:cNvSpPr/>
              <p:nvPr/>
            </p:nvSpPr>
            <p:spPr>
              <a:xfrm>
                <a:off x="7838420" y="7161070"/>
                <a:ext cx="144600" cy="707482"/>
              </a:xfrm>
              <a:prstGeom prst="roundRect">
                <a:avLst>
                  <a:gd fmla="val 16667" name="adj"/>
                </a:avLst>
              </a:prstGeom>
              <a:solidFill>
                <a:schemeClr val="accent5"/>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56" name="Google Shape;756;g3fa608e3085_0_0"/>
              <p:cNvSpPr txBox="1"/>
              <p:nvPr/>
            </p:nvSpPr>
            <p:spPr>
              <a:xfrm>
                <a:off x="7838420" y="7530452"/>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الأجزاء 25 إلى 30</a:t>
                </a:r>
                <a:endParaRPr sz="1161">
                  <a:latin typeface="Readex Pro"/>
                  <a:ea typeface="Readex Pro"/>
                  <a:cs typeface="Readex Pro"/>
                  <a:sym typeface="Readex Pro"/>
                </a:endParaRPr>
              </a:p>
            </p:txBody>
          </p:sp>
        </p:grpSp>
        <p:sp>
          <p:nvSpPr>
            <p:cNvPr id="757" name="Google Shape;757;g3fa608e3085_0_0"/>
            <p:cNvSpPr txBox="1"/>
            <p:nvPr/>
          </p:nvSpPr>
          <p:spPr>
            <a:xfrm>
              <a:off x="2888200" y="6670270"/>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15</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58" name="Google Shape;758;g3fa608e3085_0_0"/>
          <p:cNvGrpSpPr/>
          <p:nvPr/>
        </p:nvGrpSpPr>
        <p:grpSpPr>
          <a:xfrm>
            <a:off x="8677800" y="6316801"/>
            <a:ext cx="1723200" cy="1551750"/>
            <a:chOff x="8677800" y="7371836"/>
            <a:chExt cx="1723200" cy="497117"/>
          </a:xfrm>
        </p:grpSpPr>
        <p:grpSp>
          <p:nvGrpSpPr>
            <p:cNvPr id="759" name="Google Shape;759;g3fa608e3085_0_0"/>
            <p:cNvGrpSpPr/>
            <p:nvPr/>
          </p:nvGrpSpPr>
          <p:grpSpPr>
            <a:xfrm>
              <a:off x="8677800" y="7536536"/>
              <a:ext cx="1723097" cy="332417"/>
              <a:chOff x="7838420" y="7536536"/>
              <a:chExt cx="144600" cy="332417"/>
            </a:xfrm>
          </p:grpSpPr>
          <p:sp>
            <p:nvSpPr>
              <p:cNvPr id="760" name="Google Shape;760;g3fa608e3085_0_0"/>
              <p:cNvSpPr/>
              <p:nvPr/>
            </p:nvSpPr>
            <p:spPr>
              <a:xfrm>
                <a:off x="7838420" y="7536536"/>
                <a:ext cx="144600" cy="332417"/>
              </a:xfrm>
              <a:prstGeom prst="roundRect">
                <a:avLst>
                  <a:gd fmla="val 16667" name="adj"/>
                </a:avLst>
              </a:prstGeom>
              <a:solidFill>
                <a:srgbClr val="F2F4FF"/>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1" name="Google Shape;761;g3fa608e3085_0_0"/>
              <p:cNvSpPr txBox="1"/>
              <p:nvPr/>
            </p:nvSpPr>
            <p:spPr>
              <a:xfrm>
                <a:off x="7838420" y="7698553"/>
                <a:ext cx="144600" cy="170400"/>
              </a:xfrm>
              <a:prstGeom prst="rect">
                <a:avLst/>
              </a:prstGeom>
              <a:noFill/>
              <a:ln>
                <a:noFill/>
              </a:ln>
            </p:spPr>
            <p:txBody>
              <a:bodyPr anchorCtr="0" anchor="ctr" bIns="0" lIns="0" spcFirstLastPara="1" rIns="0" wrap="square" tIns="0">
                <a:noAutofit/>
              </a:bodyPr>
              <a:lstStyle/>
              <a:p>
                <a:pPr indent="0" lvl="0" marL="0" rtl="1" algn="ctr">
                  <a:spcBef>
                    <a:spcPts val="0"/>
                  </a:spcBef>
                  <a:spcAft>
                    <a:spcPts val="0"/>
                  </a:spcAft>
                  <a:buNone/>
                </a:pPr>
                <a:r>
                  <a:rPr lang="ar-SA" sz="1161">
                    <a:latin typeface="Readex Pro"/>
                    <a:ea typeface="Readex Pro"/>
                    <a:cs typeface="Readex Pro"/>
                    <a:sym typeface="Readex Pro"/>
                  </a:rPr>
                  <a:t>الأجزاء 13 إلى 18</a:t>
                </a:r>
                <a:endParaRPr sz="1161">
                  <a:solidFill>
                    <a:srgbClr val="000000"/>
                  </a:solidFill>
                  <a:latin typeface="Readex Pro"/>
                  <a:ea typeface="Readex Pro"/>
                  <a:cs typeface="Readex Pro"/>
                  <a:sym typeface="Readex Pro"/>
                </a:endParaRPr>
              </a:p>
            </p:txBody>
          </p:sp>
        </p:grpSp>
        <p:sp>
          <p:nvSpPr>
            <p:cNvPr id="762" name="Google Shape;762;g3fa608e3085_0_0"/>
            <p:cNvSpPr txBox="1"/>
            <p:nvPr/>
          </p:nvSpPr>
          <p:spPr>
            <a:xfrm>
              <a:off x="8677800" y="7371836"/>
              <a:ext cx="17232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22</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3" name="Google Shape;763;g3fa608e3085_0_0"/>
          <p:cNvGrpSpPr/>
          <p:nvPr/>
        </p:nvGrpSpPr>
        <p:grpSpPr>
          <a:xfrm>
            <a:off x="14500050" y="5491884"/>
            <a:ext cx="1723200" cy="2376667"/>
            <a:chOff x="14500050" y="6980131"/>
            <a:chExt cx="1723200" cy="888507"/>
          </a:xfrm>
        </p:grpSpPr>
        <p:grpSp>
          <p:nvGrpSpPr>
            <p:cNvPr id="764" name="Google Shape;764;g3fa608e3085_0_0"/>
            <p:cNvGrpSpPr/>
            <p:nvPr/>
          </p:nvGrpSpPr>
          <p:grpSpPr>
            <a:xfrm>
              <a:off x="14500050" y="7216231"/>
              <a:ext cx="1723097" cy="652407"/>
              <a:chOff x="7838420" y="7216231"/>
              <a:chExt cx="144600" cy="652407"/>
            </a:xfrm>
          </p:grpSpPr>
          <p:sp>
            <p:nvSpPr>
              <p:cNvPr id="765" name="Google Shape;765;g3fa608e3085_0_0"/>
              <p:cNvSpPr/>
              <p:nvPr/>
            </p:nvSpPr>
            <p:spPr>
              <a:xfrm>
                <a:off x="7838420" y="7216231"/>
                <a:ext cx="144600" cy="652407"/>
              </a:xfrm>
              <a:prstGeom prst="roundRect">
                <a:avLst>
                  <a:gd fmla="val 16667" name="adj"/>
                </a:avLst>
              </a:prstGeom>
              <a:solidFill>
                <a:srgbClr val="6150EA"/>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6" name="Google Shape;766;g3fa608e3085_0_0"/>
              <p:cNvSpPr txBox="1"/>
              <p:nvPr/>
            </p:nvSpPr>
            <p:spPr>
              <a:xfrm>
                <a:off x="7838420" y="7737838"/>
                <a:ext cx="144600" cy="13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الأجزاء 1 إلى 6</a:t>
                </a:r>
                <a:endParaRPr sz="1161">
                  <a:latin typeface="Readex Pro"/>
                  <a:ea typeface="Readex Pro"/>
                  <a:cs typeface="Readex Pro"/>
                  <a:sym typeface="Readex Pro"/>
                </a:endParaRPr>
              </a:p>
            </p:txBody>
          </p:sp>
        </p:grpSp>
        <p:sp>
          <p:nvSpPr>
            <p:cNvPr id="767" name="Google Shape;767;g3fa608e3085_0_0"/>
            <p:cNvSpPr txBox="1"/>
            <p:nvPr/>
          </p:nvSpPr>
          <p:spPr>
            <a:xfrm>
              <a:off x="14500050" y="6980131"/>
              <a:ext cx="1723200" cy="23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37</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8" name="Google Shape;768;g3fa608e3085_0_0"/>
          <p:cNvGrpSpPr/>
          <p:nvPr/>
        </p:nvGrpSpPr>
        <p:grpSpPr>
          <a:xfrm>
            <a:off x="11588925" y="5861927"/>
            <a:ext cx="1723200" cy="2006624"/>
            <a:chOff x="11588925" y="6203995"/>
            <a:chExt cx="1723200" cy="1664558"/>
          </a:xfrm>
        </p:grpSpPr>
        <p:grpSp>
          <p:nvGrpSpPr>
            <p:cNvPr id="769" name="Google Shape;769;g3fa608e3085_0_0"/>
            <p:cNvGrpSpPr/>
            <p:nvPr/>
          </p:nvGrpSpPr>
          <p:grpSpPr>
            <a:xfrm>
              <a:off x="11588925" y="6694795"/>
              <a:ext cx="1723097" cy="1173758"/>
              <a:chOff x="7838420" y="6694795"/>
              <a:chExt cx="144600" cy="1173758"/>
            </a:xfrm>
          </p:grpSpPr>
          <p:sp>
            <p:nvSpPr>
              <p:cNvPr id="770" name="Google Shape;770;g3fa608e3085_0_0"/>
              <p:cNvSpPr/>
              <p:nvPr/>
            </p:nvSpPr>
            <p:spPr>
              <a:xfrm>
                <a:off x="7838420" y="6694795"/>
                <a:ext cx="144600" cy="1173758"/>
              </a:xfrm>
              <a:prstGeom prst="roundRect">
                <a:avLst>
                  <a:gd fmla="val 16667" name="adj"/>
                </a:avLst>
              </a:prstGeom>
              <a:solidFill>
                <a:srgbClr val="2EF2C2"/>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71" name="Google Shape;771;g3fa608e3085_0_0"/>
              <p:cNvSpPr txBox="1"/>
              <p:nvPr/>
            </p:nvSpPr>
            <p:spPr>
              <a:xfrm>
                <a:off x="7838420" y="7530453"/>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الأجزاء 7 إلى 12</a:t>
                </a:r>
                <a:endParaRPr sz="1161">
                  <a:latin typeface="Readex Pro"/>
                  <a:ea typeface="Readex Pro"/>
                  <a:cs typeface="Readex Pro"/>
                  <a:sym typeface="Readex Pro"/>
                </a:endParaRPr>
              </a:p>
            </p:txBody>
          </p:sp>
        </p:grpSp>
        <p:sp>
          <p:nvSpPr>
            <p:cNvPr id="772" name="Google Shape;772;g3fa608e3085_0_0"/>
            <p:cNvSpPr txBox="1"/>
            <p:nvPr/>
          </p:nvSpPr>
          <p:spPr>
            <a:xfrm>
              <a:off x="11588925" y="6203995"/>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30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cxnSp>
        <p:nvCxnSpPr>
          <p:cNvPr id="773" name="Google Shape;773;g3fa608e3085_0_0"/>
          <p:cNvCxnSpPr/>
          <p:nvPr/>
        </p:nvCxnSpPr>
        <p:spPr>
          <a:xfrm flipH="1" rot="10800000">
            <a:off x="2011600" y="3016275"/>
            <a:ext cx="24000" cy="4866600"/>
          </a:xfrm>
          <a:prstGeom prst="straightConnector1">
            <a:avLst/>
          </a:prstGeom>
          <a:noFill/>
          <a:ln cap="flat" cmpd="sng" w="9525">
            <a:solidFill>
              <a:srgbClr val="FAF9FF"/>
            </a:solidFill>
            <a:prstDash val="solid"/>
            <a:round/>
            <a:headEnd len="med" w="med" type="diamond"/>
            <a:tailEnd len="med" w="med" type="triangle"/>
          </a:ln>
        </p:spPr>
      </p:cxnSp>
      <p:sp>
        <p:nvSpPr>
          <p:cNvPr id="774" name="Google Shape;774;g3fa608e3085_0_0"/>
          <p:cNvSpPr txBox="1"/>
          <p:nvPr/>
        </p:nvSpPr>
        <p:spPr>
          <a:xfrm>
            <a:off x="1427184" y="768740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0</a:t>
            </a:r>
            <a:endParaRPr sz="800">
              <a:solidFill>
                <a:srgbClr val="F2F4FF"/>
              </a:solidFill>
              <a:latin typeface="Readex Pro"/>
              <a:ea typeface="Readex Pro"/>
              <a:cs typeface="Readex Pro"/>
              <a:sym typeface="Readex Pro"/>
            </a:endParaRPr>
          </a:p>
        </p:txBody>
      </p:sp>
      <p:sp>
        <p:nvSpPr>
          <p:cNvPr id="775" name="Google Shape;775;g3fa608e3085_0_0"/>
          <p:cNvSpPr txBox="1"/>
          <p:nvPr/>
        </p:nvSpPr>
        <p:spPr>
          <a:xfrm>
            <a:off x="1427184" y="721611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a:t>
            </a:r>
            <a:endParaRPr sz="800">
              <a:solidFill>
                <a:srgbClr val="F2F4FF"/>
              </a:solidFill>
              <a:latin typeface="Readex Pro"/>
              <a:ea typeface="Readex Pro"/>
              <a:cs typeface="Readex Pro"/>
              <a:sym typeface="Readex Pro"/>
            </a:endParaRPr>
          </a:p>
        </p:txBody>
      </p:sp>
      <p:sp>
        <p:nvSpPr>
          <p:cNvPr id="776" name="Google Shape;776;g3fa608e3085_0_0"/>
          <p:cNvSpPr txBox="1"/>
          <p:nvPr/>
        </p:nvSpPr>
        <p:spPr>
          <a:xfrm>
            <a:off x="1427184" y="6744822"/>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20</a:t>
            </a:r>
            <a:endParaRPr sz="800">
              <a:solidFill>
                <a:srgbClr val="F2F4FF"/>
              </a:solidFill>
              <a:latin typeface="Readex Pro"/>
              <a:ea typeface="Readex Pro"/>
              <a:cs typeface="Readex Pro"/>
              <a:sym typeface="Readex Pro"/>
            </a:endParaRPr>
          </a:p>
        </p:txBody>
      </p:sp>
      <p:sp>
        <p:nvSpPr>
          <p:cNvPr id="777" name="Google Shape;777;g3fa608e3085_0_0"/>
          <p:cNvSpPr txBox="1"/>
          <p:nvPr/>
        </p:nvSpPr>
        <p:spPr>
          <a:xfrm>
            <a:off x="1427184" y="6273534"/>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30</a:t>
            </a:r>
            <a:endParaRPr sz="800">
              <a:solidFill>
                <a:srgbClr val="F2F4FF"/>
              </a:solidFill>
              <a:latin typeface="Readex Pro"/>
              <a:ea typeface="Readex Pro"/>
              <a:cs typeface="Readex Pro"/>
              <a:sym typeface="Readex Pro"/>
            </a:endParaRPr>
          </a:p>
        </p:txBody>
      </p:sp>
      <p:sp>
        <p:nvSpPr>
          <p:cNvPr id="778" name="Google Shape;778;g3fa608e3085_0_0"/>
          <p:cNvSpPr txBox="1"/>
          <p:nvPr/>
        </p:nvSpPr>
        <p:spPr>
          <a:xfrm>
            <a:off x="1427184" y="5802245"/>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40</a:t>
            </a:r>
            <a:endParaRPr sz="800">
              <a:solidFill>
                <a:srgbClr val="F2F4FF"/>
              </a:solidFill>
              <a:latin typeface="Readex Pro"/>
              <a:ea typeface="Readex Pro"/>
              <a:cs typeface="Readex Pro"/>
              <a:sym typeface="Readex Pro"/>
            </a:endParaRPr>
          </a:p>
        </p:txBody>
      </p:sp>
      <p:sp>
        <p:nvSpPr>
          <p:cNvPr id="779" name="Google Shape;779;g3fa608e3085_0_0"/>
          <p:cNvSpPr txBox="1"/>
          <p:nvPr/>
        </p:nvSpPr>
        <p:spPr>
          <a:xfrm>
            <a:off x="1427184" y="5330956"/>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50</a:t>
            </a:r>
            <a:endParaRPr sz="800">
              <a:solidFill>
                <a:srgbClr val="F2F4FF"/>
              </a:solidFill>
              <a:latin typeface="Readex Pro"/>
              <a:ea typeface="Readex Pro"/>
              <a:cs typeface="Readex Pro"/>
              <a:sym typeface="Readex Pro"/>
            </a:endParaRPr>
          </a:p>
        </p:txBody>
      </p:sp>
      <p:sp>
        <p:nvSpPr>
          <p:cNvPr id="780" name="Google Shape;780;g3fa608e3085_0_0"/>
          <p:cNvSpPr txBox="1"/>
          <p:nvPr/>
        </p:nvSpPr>
        <p:spPr>
          <a:xfrm>
            <a:off x="1427184" y="4859667"/>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60</a:t>
            </a:r>
            <a:endParaRPr sz="800">
              <a:solidFill>
                <a:srgbClr val="F2F4FF"/>
              </a:solidFill>
              <a:latin typeface="Readex Pro"/>
              <a:ea typeface="Readex Pro"/>
              <a:cs typeface="Readex Pro"/>
              <a:sym typeface="Readex Pro"/>
            </a:endParaRPr>
          </a:p>
        </p:txBody>
      </p:sp>
      <p:sp>
        <p:nvSpPr>
          <p:cNvPr id="781" name="Google Shape;781;g3fa608e3085_0_0"/>
          <p:cNvSpPr txBox="1"/>
          <p:nvPr/>
        </p:nvSpPr>
        <p:spPr>
          <a:xfrm>
            <a:off x="1427184" y="4388379"/>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70</a:t>
            </a:r>
            <a:endParaRPr sz="800">
              <a:solidFill>
                <a:srgbClr val="F2F4FF"/>
              </a:solidFill>
              <a:latin typeface="Readex Pro"/>
              <a:ea typeface="Readex Pro"/>
              <a:cs typeface="Readex Pro"/>
              <a:sym typeface="Readex Pro"/>
            </a:endParaRPr>
          </a:p>
        </p:txBody>
      </p:sp>
      <p:sp>
        <p:nvSpPr>
          <p:cNvPr id="782" name="Google Shape;782;g3fa608e3085_0_0"/>
          <p:cNvSpPr txBox="1"/>
          <p:nvPr/>
        </p:nvSpPr>
        <p:spPr>
          <a:xfrm>
            <a:off x="1427184" y="391709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80</a:t>
            </a:r>
            <a:endParaRPr sz="800">
              <a:solidFill>
                <a:srgbClr val="F2F4FF"/>
              </a:solidFill>
              <a:latin typeface="Readex Pro"/>
              <a:ea typeface="Readex Pro"/>
              <a:cs typeface="Readex Pro"/>
              <a:sym typeface="Readex Pro"/>
            </a:endParaRPr>
          </a:p>
        </p:txBody>
      </p:sp>
      <p:sp>
        <p:nvSpPr>
          <p:cNvPr id="783" name="Google Shape;783;g3fa608e3085_0_0"/>
          <p:cNvSpPr txBox="1"/>
          <p:nvPr/>
        </p:nvSpPr>
        <p:spPr>
          <a:xfrm>
            <a:off x="1427184" y="344580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90</a:t>
            </a:r>
            <a:endParaRPr sz="800">
              <a:solidFill>
                <a:srgbClr val="F2F4FF"/>
              </a:solidFill>
              <a:latin typeface="Readex Pro"/>
              <a:ea typeface="Readex Pro"/>
              <a:cs typeface="Readex Pro"/>
              <a:sym typeface="Readex Pro"/>
            </a:endParaRPr>
          </a:p>
        </p:txBody>
      </p:sp>
      <p:sp>
        <p:nvSpPr>
          <p:cNvPr id="784" name="Google Shape;784;g3fa608e3085_0_0"/>
          <p:cNvSpPr txBox="1"/>
          <p:nvPr/>
        </p:nvSpPr>
        <p:spPr>
          <a:xfrm>
            <a:off x="1372725" y="3025575"/>
            <a:ext cx="5148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100</a:t>
            </a:r>
            <a:endParaRPr sz="800">
              <a:solidFill>
                <a:srgbClr val="F2F4FF"/>
              </a:solidFill>
              <a:latin typeface="Readex Pro"/>
              <a:ea typeface="Readex Pro"/>
              <a:cs typeface="Readex Pro"/>
              <a:sym typeface="Readex Pro"/>
            </a:endParaRPr>
          </a:p>
        </p:txBody>
      </p:sp>
      <p:pic>
        <p:nvPicPr>
          <p:cNvPr id="785" name="Google Shape;785;g3fa608e3085_0_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786" name="Google Shape;786;g3fa608e3085_0_0"/>
          <p:cNvCxnSpPr/>
          <p:nvPr/>
        </p:nvCxnSpPr>
        <p:spPr>
          <a:xfrm rot="10800000">
            <a:off x="2289875" y="7941775"/>
            <a:ext cx="14453700" cy="0"/>
          </a:xfrm>
          <a:prstGeom prst="straightConnector1">
            <a:avLst/>
          </a:prstGeom>
          <a:noFill/>
          <a:ln cap="flat" cmpd="sng" w="9525">
            <a:solidFill>
              <a:srgbClr val="8E99CC"/>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p23"/>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93" name="Google Shape;793;p2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بيانات المحتوى</a:t>
            </a:r>
            <a:endParaRPr/>
          </a:p>
        </p:txBody>
      </p:sp>
      <p:sp>
        <p:nvSpPr>
          <p:cNvPr id="794" name="Google Shape;794;p2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توزيع الآيات المتشابهة على المصحف</a:t>
            </a:r>
            <a:endParaRPr/>
          </a:p>
        </p:txBody>
      </p:sp>
      <p:sp>
        <p:nvSpPr>
          <p:cNvPr id="795" name="Google Shape;795;p23"/>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1,481 آية لها متشابه، موزعة على أثلاث المصحف</a:t>
            </a:r>
            <a:endParaRPr/>
          </a:p>
        </p:txBody>
      </p:sp>
      <p:sp>
        <p:nvSpPr>
          <p:cNvPr id="796" name="Google Shape;796;p2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97" name="Google Shape;797;p23"/>
          <p:cNvSpPr txBox="1"/>
          <p:nvPr>
            <p:ph idx="3" type="body"/>
          </p:nvPr>
        </p:nvSpPr>
        <p:spPr>
          <a:xfrm>
            <a:off x="1409700" y="890587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المصدر: فهرس المتشابهات في مثاني، أكتوبر 2026</a:t>
            </a:r>
            <a:endParaRPr/>
          </a:p>
        </p:txBody>
      </p:sp>
      <p:grpSp>
        <p:nvGrpSpPr>
          <p:cNvPr id="798" name="Google Shape;798;p23"/>
          <p:cNvGrpSpPr/>
          <p:nvPr/>
        </p:nvGrpSpPr>
        <p:grpSpPr>
          <a:xfrm>
            <a:off x="6531752" y="3082259"/>
            <a:ext cx="5501766" cy="5503883"/>
            <a:chOff x="9818123" y="3876685"/>
            <a:chExt cx="3913341" cy="3914847"/>
          </a:xfrm>
        </p:grpSpPr>
        <p:grpSp>
          <p:nvGrpSpPr>
            <p:cNvPr id="799" name="Google Shape;799;p23"/>
            <p:cNvGrpSpPr/>
            <p:nvPr/>
          </p:nvGrpSpPr>
          <p:grpSpPr>
            <a:xfrm>
              <a:off x="9818123" y="3876685"/>
              <a:ext cx="3913341" cy="3914847"/>
              <a:chOff x="7227167" y="3027486"/>
              <a:chExt cx="1559100" cy="1559700"/>
            </a:xfrm>
          </p:grpSpPr>
          <p:sp>
            <p:nvSpPr>
              <p:cNvPr id="800" name="Google Shape;800;p23"/>
              <p:cNvSpPr/>
              <p:nvPr/>
            </p:nvSpPr>
            <p:spPr>
              <a:xfrm rot="2694635">
                <a:off x="7471537" y="3255980"/>
                <a:ext cx="1087390" cy="1087390"/>
              </a:xfrm>
              <a:prstGeom prst="ellipse">
                <a:avLst/>
              </a:prstGeom>
              <a:solidFill>
                <a:srgbClr val="6150EA"/>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id="801" name="Google Shape;801;p23"/>
              <p:cNvSpPr/>
              <p:nvPr/>
            </p:nvSpPr>
            <p:spPr>
              <a:xfrm>
                <a:off x="7455575" y="3255975"/>
                <a:ext cx="1102500" cy="1102500"/>
              </a:xfrm>
              <a:prstGeom prst="pie">
                <a:avLst>
                  <a:gd fmla="val 1252799" name="adj1"/>
                  <a:gd fmla="val 16200000" name="adj2"/>
                </a:avLst>
              </a:prstGeom>
              <a:solidFill>
                <a:srgbClr val="2EF2C2"/>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descr="A pie chart comparing sales across online stores, physical stores, and social media. " id="802" name="Google Shape;802;p23"/>
              <p:cNvSpPr/>
              <p:nvPr/>
            </p:nvSpPr>
            <p:spPr>
              <a:xfrm rot="0">
                <a:off x="7455386" y="3256005"/>
                <a:ext cx="1102662" cy="1102662"/>
              </a:xfrm>
              <a:prstGeom prst="pie">
                <a:avLst>
                  <a:gd fmla="val 8640000" name="adj1"/>
                  <a:gd fmla="val 16200000" name="adj2"/>
                </a:avLst>
              </a:prstGeom>
              <a:solidFill>
                <a:schemeClr val="accent1"/>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grpSp>
        <p:sp>
          <p:nvSpPr>
            <p:cNvPr id="803" name="Google Shape;803;p23"/>
            <p:cNvSpPr/>
            <p:nvPr/>
          </p:nvSpPr>
          <p:spPr>
            <a:xfrm>
              <a:off x="11022135" y="5060983"/>
              <a:ext cx="1546200" cy="1546200"/>
            </a:xfrm>
            <a:prstGeom prst="ellipse">
              <a:avLst/>
            </a:prstGeom>
            <a:solidFill>
              <a:srgbClr val="12183F"/>
            </a:solidFill>
            <a:ln cap="flat" cmpd="sng" w="13400">
              <a:solidFill>
                <a:schemeClr val="dk2"/>
              </a:solidFill>
              <a:prstDash val="solid"/>
              <a:round/>
              <a:headEnd len="sm" w="sm" type="none"/>
              <a:tailEnd len="sm" w="sm" type="none"/>
            </a:ln>
          </p:spPr>
          <p:txBody>
            <a:bodyPr anchorCtr="0" anchor="ctr" bIns="128525" lIns="128525" spcFirstLastPara="1" rIns="128525" wrap="square" tIns="128525">
              <a:noAutofit/>
            </a:bodyPr>
            <a:lstStyle/>
            <a:p>
              <a:pPr indent="0" lvl="0" marL="0" rtl="0" algn="ctr">
                <a:spcBef>
                  <a:spcPts val="0"/>
                </a:spcBef>
                <a:spcAft>
                  <a:spcPts val="0"/>
                </a:spcAft>
                <a:buNone/>
              </a:pPr>
              <a:r>
                <a:t/>
              </a:r>
              <a:endParaRPr sz="1968"/>
            </a:p>
          </p:txBody>
        </p:sp>
      </p:grpSp>
      <p:sp>
        <p:nvSpPr>
          <p:cNvPr id="804" name="Google Shape;804;p23"/>
          <p:cNvSpPr txBox="1"/>
          <p:nvPr/>
        </p:nvSpPr>
        <p:spPr>
          <a:xfrm>
            <a:off x="5810250" y="563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35%</a:t>
            </a:r>
            <a:endParaRPr sz="1451">
              <a:solidFill>
                <a:schemeClr val="lt1"/>
              </a:solidFill>
              <a:latin typeface="Readex Pro SemiBold"/>
              <a:ea typeface="Readex Pro SemiBold"/>
              <a:cs typeface="Readex Pro SemiBold"/>
              <a:sym typeface="Readex Pro SemiBold"/>
            </a:endParaRPr>
          </a:p>
        </p:txBody>
      </p:sp>
      <p:sp>
        <p:nvSpPr>
          <p:cNvPr id="805" name="Google Shape;805;p23"/>
          <p:cNvSpPr txBox="1"/>
          <p:nvPr/>
        </p:nvSpPr>
        <p:spPr>
          <a:xfrm>
            <a:off x="5810250" y="602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الأجزاء 21 إلى 30</a:t>
            </a:r>
            <a:endParaRPr sz="1451">
              <a:solidFill>
                <a:schemeClr val="lt1"/>
              </a:solidFill>
              <a:latin typeface="Readex Pro SemiBold"/>
              <a:ea typeface="Readex Pro SemiBold"/>
              <a:cs typeface="Readex Pro SemiBold"/>
              <a:sym typeface="Readex Pro SemiBold"/>
            </a:endParaRPr>
          </a:p>
        </p:txBody>
      </p:sp>
      <p:sp>
        <p:nvSpPr>
          <p:cNvPr id="806" name="Google Shape;806;p23"/>
          <p:cNvSpPr txBox="1"/>
          <p:nvPr/>
        </p:nvSpPr>
        <p:spPr>
          <a:xfrm>
            <a:off x="11017250" y="3994938"/>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31%</a:t>
            </a:r>
            <a:endParaRPr sz="1451">
              <a:solidFill>
                <a:schemeClr val="lt1"/>
              </a:solidFill>
              <a:latin typeface="Readex Pro SemiBold"/>
              <a:ea typeface="Readex Pro SemiBold"/>
              <a:cs typeface="Readex Pro SemiBold"/>
              <a:sym typeface="Readex Pro SemiBold"/>
            </a:endParaRPr>
          </a:p>
        </p:txBody>
      </p:sp>
      <p:sp>
        <p:nvSpPr>
          <p:cNvPr id="807" name="Google Shape;807;p23"/>
          <p:cNvSpPr txBox="1"/>
          <p:nvPr/>
        </p:nvSpPr>
        <p:spPr>
          <a:xfrm>
            <a:off x="11017250" y="4385450"/>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الأجزاء 1 إلى 10</a:t>
            </a:r>
            <a:endParaRPr sz="1451">
              <a:solidFill>
                <a:schemeClr val="lt1"/>
              </a:solidFill>
              <a:latin typeface="Readex Pro SemiBold"/>
              <a:ea typeface="Readex Pro SemiBold"/>
              <a:cs typeface="Readex Pro SemiBold"/>
              <a:sym typeface="Readex Pro SemiBold"/>
            </a:endParaRPr>
          </a:p>
        </p:txBody>
      </p:sp>
      <p:sp>
        <p:nvSpPr>
          <p:cNvPr id="808" name="Google Shape;808;p23"/>
          <p:cNvSpPr txBox="1"/>
          <p:nvPr/>
        </p:nvSpPr>
        <p:spPr>
          <a:xfrm>
            <a:off x="11017250" y="690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34%</a:t>
            </a:r>
            <a:endParaRPr sz="1451">
              <a:solidFill>
                <a:schemeClr val="lt1"/>
              </a:solidFill>
              <a:latin typeface="Readex Pro SemiBold"/>
              <a:ea typeface="Readex Pro SemiBold"/>
              <a:cs typeface="Readex Pro SemiBold"/>
              <a:sym typeface="Readex Pro SemiBold"/>
            </a:endParaRPr>
          </a:p>
        </p:txBody>
      </p:sp>
      <p:sp>
        <p:nvSpPr>
          <p:cNvPr id="809" name="Google Shape;809;p23"/>
          <p:cNvSpPr txBox="1"/>
          <p:nvPr/>
        </p:nvSpPr>
        <p:spPr>
          <a:xfrm>
            <a:off x="11017250" y="729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الأجزاء 11 إلى 20</a:t>
            </a:r>
            <a:endParaRPr sz="1451">
              <a:solidFill>
                <a:schemeClr val="lt1"/>
              </a:solidFill>
              <a:latin typeface="Readex Pro SemiBold"/>
              <a:ea typeface="Readex Pro SemiBold"/>
              <a:cs typeface="Readex Pro SemiBold"/>
              <a:sym typeface="Readex Pro SemiBold"/>
            </a:endParaRPr>
          </a:p>
        </p:txBody>
      </p:sp>
      <p:sp>
        <p:nvSpPr>
          <p:cNvPr id="810" name="Google Shape;810;p23"/>
          <p:cNvSpPr txBox="1"/>
          <p:nvPr/>
        </p:nvSpPr>
        <p:spPr>
          <a:xfrm>
            <a:off x="1790508" y="8033292"/>
            <a:ext cx="146856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النسبة من مجموع الآيات التي لها متشابه</a:t>
            </a:r>
            <a:endParaRPr sz="1451">
              <a:solidFill>
                <a:srgbClr val="FFFFFF"/>
              </a:solidFill>
              <a:latin typeface="Readex Pro SemiBold"/>
              <a:ea typeface="Readex Pro SemiBold"/>
              <a:cs typeface="Readex Pro SemiBold"/>
              <a:sym typeface="Readex Pro SemiBold"/>
            </a:endParaRPr>
          </a:p>
        </p:txBody>
      </p:sp>
      <p:pic>
        <p:nvPicPr>
          <p:cNvPr id="811" name="Google Shape;811;p2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آلية العمل</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من التلاوة إلى المراجعة</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ما يحدث عندما يسمّع الطالب وجهاً</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rPr b="1" lang="ar-SA" sz="3600">
                <a:solidFill>
                  <a:srgbClr val="2EF2C2"/>
                </a:solidFill>
                <a:latin typeface="Readex Pro"/>
                <a:ea typeface="Readex Pro"/>
                <a:cs typeface="Readex Pro"/>
                <a:sym typeface="Readex Pro"/>
              </a:rP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المدخلات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تلاوة الطالب بصوته</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من أي موضع في المصحف</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0"/>
              </a:spcAft>
              <a:buNone/>
            </a:pPr>
            <a: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المعالجة</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تحويل الصوت إلى نص ومحاذاته كلمةً كلمة</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مع نص المصحف وفهرس المتشابهات</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rPr b="1" lang="ar-SA" sz="3600">
                <a:solidFill>
                  <a:srgbClr val="2EF2C2"/>
                </a:solidFill>
                <a:latin typeface="Readex Pro"/>
                <a:ea typeface="Readex Pro"/>
                <a:cs typeface="Readex Pro"/>
                <a:sym typeface="Readex Pro"/>
              </a:rP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المخرجات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تقرير بالأخطاء ومواضعها</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ومقارنة ملوّنة عند الانتقال إلى متشابه</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الأثر</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مراجعة متباعدة من أخطائه</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تُقاس بنسبة الإتقان في كل وجه</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id="832" name="Google Shape;832;p25"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33" name="Google Shape;833;p2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34" name="Google Shape;834;p25" descr="big5.png"/>
          <p:cNvPicPr>
            <a:picLocks noGrp="1" noChangeAspect="1"/>
          </p:cNvPicPr>
          <p:nvPr>
            <p:ph idx="2" type="pic"/>
          </p:nvPr>
        </p:nvPicPr>
        <p:blipFill>
          <a:blip r:embed="rId4"/>
          <a:srcRect l="28" r="28"/>
          <a:stretch>
            <a:fillRect/>
          </a:stretch>
        </p:blipFill>
        <p:spPr>
          <a:xfrm>
            <a:off x="1047750" y="666750"/>
            <a:ext cx="16192500" cy="6953400"/>
          </a:xfrm>
        </p:spPr>
      </p:pic>
      <p:sp>
        <p:nvSpPr>
          <p:cNvPr id="835" name="Google Shape;835;p25"/>
          <p:cNvSpPr txBox="1"/>
          <p:nvPr>
            <p:ph type="title"/>
          </p:nvPr>
        </p:nvSpPr>
        <p:spPr>
          <a:xfrm>
            <a:off x="2038350" y="7962900"/>
            <a:ext cx="14763900" cy="838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900"/>
              <a:buNone/>
            </a:pPr>
            <a:r>
              <a:rPr b="1" lang="ar-SA" sz="3900">
                <a:solidFill>
                  <a:srgbClr val="F2F4FF"/>
                </a:solidFill>
                <a:latin typeface="Readex Pro"/>
                <a:ea typeface="Readex Pro"/>
                <a:cs typeface="Readex Pro"/>
                <a:sym typeface="Readex Pro"/>
              </a:rPr>
              <a:t>المصحف والتفسير والتسميع في تطبيق واحد</a:t>
            </a:r>
            <a:endParaRPr/>
          </a:p>
        </p:txBody>
      </p:sp>
      <p:sp>
        <p:nvSpPr>
          <p:cNvPr id="836" name="Google Shape;836;p25"/>
          <p:cNvSpPr txBox="1"/>
          <p:nvPr>
            <p:ph idx="1" type="body"/>
          </p:nvPr>
        </p:nvSpPr>
        <p:spPr>
          <a:xfrm>
            <a:off x="1990725" y="8824913"/>
            <a:ext cx="14763900" cy="428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لقطات من النسخة المنشورة: المصحف، المعاني، التسميع، مواقيت الصلاة، القبلة</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مكونات الحل</a:t>
            </a:r>
            <a:endParaRPr/>
          </a:p>
        </p:txBody>
      </p:sp>
      <p:sp>
        <p:nvSpPr>
          <p:cNvPr id="844" name="Google Shape;844;p26"/>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واجهات من التطبيق</a:t>
            </a:r>
            <a:endParaRPr/>
          </a:p>
        </p:txBody>
      </p:sp>
      <p:sp>
        <p:nvSpPr>
          <p:cNvPr id="845" name="Google Shape;845;p2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46" name="Google Shape;846;p26" descr="g_assistant.png"/>
          <p:cNvPicPr>
            <a:picLocks noGrp="1" noChangeAspect="1"/>
          </p:cNvPicPr>
          <p:nvPr>
            <p:ph idx="2" type="pic"/>
          </p:nvPr>
        </p:nvPicPr>
        <p:blipFill>
          <a:blip r:embed="rId5"/>
          <a:srcRect l="2" r="2"/>
          <a:stretch>
            <a:fillRect/>
          </a:stretch>
        </p:blipFill>
        <p:spPr>
          <a:xfrm>
            <a:off x="12077700" y="3714750"/>
            <a:ext cx="4762500" cy="4286400"/>
          </a:xfrm>
        </p:spPr>
      </p:pic>
      <p:sp>
        <p:nvSpPr>
          <p:cNvPr id="847" name="Google Shape;847;p26"/>
          <p:cNvSpPr txBox="1"/>
          <p:nvPr>
            <p:ph idx="3" type="body"/>
          </p:nvPr>
        </p:nvSpPr>
        <p:spPr>
          <a:xfrm>
            <a:off x="121158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المساعد القرآني</a:t>
            </a:r>
            <a:endParaRPr/>
          </a:p>
        </p:txBody>
      </p:sp>
      <p:sp>
        <p:nvSpPr>
          <p:cNvPr id="848" name="Google Shape;848;p26"/>
          <p:cNvSpPr txBox="1"/>
          <p:nvPr>
            <p:ph idx="5" type="body"/>
          </p:nvPr>
        </p:nvSpPr>
        <p:spPr>
          <a:xfrm>
            <a:off x="676275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وردك اليوم</a:t>
            </a:r>
            <a:endParaRPr/>
          </a:p>
        </p:txBody>
      </p:sp>
      <p:sp>
        <p:nvSpPr>
          <p:cNvPr id="849" name="Google Shape;849;p26"/>
          <p:cNvSpPr txBox="1"/>
          <p:nvPr>
            <p:ph idx="7" type="body"/>
          </p:nvPr>
        </p:nvSpPr>
        <p:spPr>
          <a:xfrm>
            <a:off x="14097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البستان: يكبر مع كل يوم مكتمل</a:t>
            </a:r>
            <a:endParaRPr/>
          </a:p>
        </p:txBody>
      </p:sp>
      <p:pic>
        <p:nvPicPr>
          <p:cNvPr id="850" name="Google Shape;850;p26"/>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pic>
        <p:nvPicPr>
          <p:cNvPr id="851" name="Google Shape;851;p26" descr="g_wird_today.png"/>
          <p:cNvPicPr>
            <a:picLocks noGrp="1" noChangeAspect="1"/>
          </p:cNvPicPr>
          <p:nvPr>
            <p:ph idx="2" type="pic"/>
          </p:nvPr>
        </p:nvPicPr>
        <p:blipFill>
          <a:blip r:embed="rId6"/>
          <a:srcRect l="2" r="2"/>
          <a:stretch>
            <a:fillRect/>
          </a:stretch>
        </p:blipFill>
        <p:spPr>
          <a:xfrm>
            <a:off x="6743700" y="3714675"/>
            <a:ext cx="4762500" cy="4286400"/>
          </a:xfrm>
        </p:spPr>
      </p:pic>
      <p:pic>
        <p:nvPicPr>
          <p:cNvPr id="852" name="Google Shape;852;p26" descr="g_garden.png"/>
          <p:cNvPicPr>
            <a:picLocks noGrp="1" noChangeAspect="1"/>
          </p:cNvPicPr>
          <p:nvPr>
            <p:ph idx="2" type="pic"/>
          </p:nvPr>
        </p:nvPicPr>
        <p:blipFill>
          <a:blip r:embed="rId7"/>
          <a:srcRect l="2" r="2"/>
          <a:stretch>
            <a:fillRect/>
          </a:stretch>
        </p:blipFill>
        <p:spPr>
          <a:xfrm>
            <a:off x="1409700" y="3714750"/>
            <a:ext cx="4762500" cy="4286400"/>
          </a:xfrm>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مكونات الحل</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أربعة أجزاء حول سجل الطالب</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كل جزء يقرأ من سجل الطالب ويكتب فيه</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المساعد القرآني</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محادثة بالصوت أو الكتابة بخمسة أوضاع، تجيب من مصادر معتمدة</a:t>
            </a: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الورد اليومي</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خطة حفظ وتلاوة ومراجعة تتكيّف مع إنجاز الطالب</a:t>
            </a: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المصحف والتفسير</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مصحف المدينة بأسطره مع الميسر وغريب الكلمات</a:t>
            </a: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التسميع الذكي</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يكشف الإسقاط والإبدال والانتقال إلى المتشابه</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القيمة المضافة</a:t>
            </a:r>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التسميع على المعلّم، والتسميع مع مثاني</a:t>
            </a:r>
            <a:endParaRPr/>
          </a:p>
        </p:txBody>
      </p:sp>
      <p:sp>
        <p:nvSpPr>
          <p:cNvPr id="885" name="Google Shape;885;p2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مثاني لا يغني عن المعلّم، بل يملأ الوقت بين الحلقات</a:t>
            </a:r>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87" name="Google Shape;887;p28"/>
          <p:cNvSpPr txBox="1"/>
          <p:nvPr>
            <p:ph idx="3" type="body"/>
          </p:nvPr>
        </p:nvSpPr>
        <p:spPr>
          <a:xfrm>
            <a:off x="969645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التسميع على المعلّم</a:t>
            </a:r>
            <a:endParaRPr/>
          </a:p>
        </p:txBody>
      </p:sp>
      <p:sp>
        <p:nvSpPr>
          <p:cNvPr id="888" name="Google Shape;888;p28"/>
          <p:cNvSpPr txBox="1"/>
          <p:nvPr>
            <p:ph idx="4" type="body"/>
          </p:nvPr>
        </p:nvSpPr>
        <p:spPr>
          <a:xfrm>
            <a:off x="969645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الطريقة الأصل في الحلقات: يستمع المعلّم ويصحّح مباشرة</a:t>
            </a:r>
            <a:endParaRPr/>
          </a:p>
        </p:txBody>
      </p:sp>
      <p:sp>
        <p:nvSpPr>
          <p:cNvPr id="889" name="Google Shape;889;p28"/>
          <p:cNvSpPr txBox="1"/>
          <p:nvPr>
            <p:ph idx="5" type="body"/>
          </p:nvPr>
        </p:nvSpPr>
        <p:spPr>
          <a:xfrm>
            <a:off x="140970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التسميع مع مثاني</a:t>
            </a:r>
            <a:endParaRPr/>
          </a:p>
        </p:txBody>
      </p:sp>
      <p:sp>
        <p:nvSpPr>
          <p:cNvPr id="890" name="Google Shape;890;p28"/>
          <p:cNvSpPr txBox="1"/>
          <p:nvPr>
            <p:ph idx="6" type="body"/>
          </p:nvPr>
        </p:nvSpPr>
        <p:spPr>
          <a:xfrm>
            <a:off x="140970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تسميع ذاتي في أي وقت، مع سجل محفوظ للأخطاء</a:t>
            </a:r>
            <a:endParaRPr/>
          </a:p>
        </p:txBody>
      </p:sp>
      <p:sp>
        <p:nvSpPr>
          <p:cNvPr id="891" name="Google Shape;891;p28"/>
          <p:cNvSpPr txBox="1"/>
          <p:nvPr>
            <p:ph idx="7" type="body"/>
          </p:nvPr>
        </p:nvSpPr>
        <p:spPr>
          <a:xfrm>
            <a:off x="969645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يصحّح الحفظ والتجويد والأداء معاً</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يحتاج حضور المعلّم ووقتاً محدداً</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في الحلقة وعند الاختبار</a:t>
            </a:r>
            <a:endParaRPr/>
          </a:p>
        </p:txBody>
      </p:sp>
      <p:sp>
        <p:nvSpPr>
          <p:cNvPr id="892" name="Google Shape;892;p28"/>
          <p:cNvSpPr txBox="1"/>
          <p:nvPr>
            <p:ph idx="8" type="body"/>
          </p:nvPr>
        </p:nvSpPr>
        <p:spPr>
          <a:xfrm>
            <a:off x="140970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متاح في أي وقت، ويبني المراجعة من الأخطاء</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لا يقيّم التجويد، وقد يخطئ التعرّف الصوتي</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بين الحلقات وفي المراجعة اليومية</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2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901" name="TextBox 900"/>
          <p:cNvSpPr txBox="1"/>
          <p:nvPr/>
        </p:nvSpPr>
        <p:spPr>
          <a:xfrm>
            <a:off x="10363200" y="1028700"/>
            <a:ext cx="6477000" cy="419100"/>
          </a:xfrm>
          <a:prstGeom prst="rect">
            <a:avLst/>
          </a:prstGeom>
          <a:noFill/>
        </p:spPr>
        <p:txBody>
          <a:bodyPr wrap="square" lIns="0" rIns="0" tIns="0" bIns="0">
            <a:spAutoFit/>
          </a:bodyPr>
          <a:lstStyle/>
          <a:p>
            <a:pPr algn="r" rtl="1"/>
            <a:r>
              <a:rPr sz="1800" b="0" lang="ar-SA">
                <a:solidFill>
                  <a:srgbClr val="2EF2C2"/>
                </a:solidFill>
                <a:latin typeface="Readex Pro"/>
                <a:cs typeface="Readex Pro"/>
              </a:rPr>
              <a:t>مكونات الحل</a:t>
            </a:r>
          </a:p>
        </p:txBody>
      </p:sp>
      <p:sp>
        <p:nvSpPr>
          <p:cNvPr id="902" name="TextBox 901"/>
          <p:cNvSpPr txBox="1"/>
          <p:nvPr/>
        </p:nvSpPr>
        <p:spPr>
          <a:xfrm>
            <a:off x="1409700" y="1809750"/>
            <a:ext cx="15430500" cy="952500"/>
          </a:xfrm>
          <a:prstGeom prst="rect">
            <a:avLst/>
          </a:prstGeom>
          <a:noFill/>
        </p:spPr>
        <p:txBody>
          <a:bodyPr wrap="square" lIns="0" rIns="0" tIns="0" bIns="0">
            <a:spAutoFit/>
          </a:bodyPr>
          <a:lstStyle/>
          <a:p>
            <a:pPr algn="r" rtl="1"/>
            <a:r>
              <a:rPr sz="4500" b="1" lang="ar-SA">
                <a:solidFill>
                  <a:srgbClr val="FFFFFF"/>
                </a:solidFill>
                <a:latin typeface="Readex Pro"/>
                <a:cs typeface="Readex Pro"/>
              </a:rPr>
              <a:t>بثلاث لغات</a:t>
            </a:r>
          </a:p>
        </p:txBody>
      </p:sp>
      <p:sp>
        <p:nvSpPr>
          <p:cNvPr id="903" name="TextBox 902"/>
          <p:cNvSpPr txBox="1"/>
          <p:nvPr/>
        </p:nvSpPr>
        <p:spPr>
          <a:xfrm>
            <a:off x="1409700" y="2857500"/>
            <a:ext cx="15430500" cy="685800"/>
          </a:xfrm>
          <a:prstGeom prst="rect">
            <a:avLst/>
          </a:prstGeom>
          <a:noFill/>
        </p:spPr>
        <p:txBody>
          <a:bodyPr wrap="square" lIns="0" rIns="0" tIns="0" bIns="0">
            <a:spAutoFit/>
          </a:bodyPr>
          <a:lstStyle/>
          <a:p>
            <a:pPr algn="r" rtl="1"/>
            <a:r>
              <a:rPr sz="2400" b="0" lang="ar-SA">
                <a:solidFill>
                  <a:srgbClr val="C9CEF0"/>
                </a:solidFill>
                <a:latin typeface="Readex Pro"/>
                <a:cs typeface="Readex Pro"/>
              </a:rPr>
              <a:t>الواجهة بالعربية والإنجليزية والأردية، والمصحف بنصه العربي دائماً</a:t>
            </a:r>
          </a:p>
        </p:txBody>
      </p:sp>
      <p:pic>
        <p:nvPicPr>
          <p:cNvPr id="904" name="Picture 903" descr="langs.png"/>
          <p:cNvPicPr>
            <a:picLocks noChangeAspect="1"/>
          </p:cNvPicPr>
          <p:nvPr/>
        </p:nvPicPr>
        <p:blipFill>
          <a:blip r:embed="rId5"/>
          <a:stretch>
            <a:fillRect/>
          </a:stretch>
        </p:blipFill>
        <p:spPr>
          <a:xfrm>
            <a:off x="2664000" y="3650000"/>
            <a:ext cx="12960000" cy="5400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909" name="TextBox 908"/>
          <p:cNvSpPr txBox="1"/>
          <p:nvPr/>
        </p:nvSpPr>
        <p:spPr>
          <a:xfrm>
            <a:off x="10363200" y="1028700"/>
            <a:ext cx="6477000" cy="419100"/>
          </a:xfrm>
          <a:prstGeom prst="rect">
            <a:avLst/>
          </a:prstGeom>
          <a:noFill/>
        </p:spPr>
        <p:txBody>
          <a:bodyPr wrap="square" lIns="0" rIns="0" tIns="0" bIns="0">
            <a:spAutoFit/>
          </a:bodyPr>
          <a:lstStyle/>
          <a:p>
            <a:pPr algn="r" rtl="1"/>
            <a:r>
              <a:rPr sz="1800" b="0" lang="ar-SA">
                <a:solidFill>
                  <a:srgbClr val="6150EA"/>
                </a:solidFill>
                <a:latin typeface="Readex Pro"/>
                <a:cs typeface="Readex Pro"/>
              </a:rPr>
              <a:t>مكونات الحل</a:t>
            </a:r>
          </a:p>
        </p:txBody>
      </p:sp>
      <p:sp>
        <p:nvSpPr>
          <p:cNvPr id="910" name="TextBox 909"/>
          <p:cNvSpPr txBox="1"/>
          <p:nvPr/>
        </p:nvSpPr>
        <p:spPr>
          <a:xfrm>
            <a:off x="1409700" y="1809750"/>
            <a:ext cx="15430500" cy="952500"/>
          </a:xfrm>
          <a:prstGeom prst="rect">
            <a:avLst/>
          </a:prstGeom>
          <a:noFill/>
        </p:spPr>
        <p:txBody>
          <a:bodyPr wrap="square" lIns="0" rIns="0" tIns="0" bIns="0">
            <a:spAutoFit/>
          </a:bodyPr>
          <a:lstStyle/>
          <a:p>
            <a:pPr algn="r" rtl="1"/>
            <a:r>
              <a:rPr sz="4500" b="1" lang="ar-SA">
                <a:solidFill>
                  <a:srgbClr val="12183F"/>
                </a:solidFill>
                <a:latin typeface="Readex Pro"/>
                <a:cs typeface="Readex Pro"/>
              </a:rPr>
              <a:t>مراجعة تُبنى من أخطائك</a:t>
            </a:r>
          </a:p>
        </p:txBody>
      </p:sp>
      <p:sp>
        <p:nvSpPr>
          <p:cNvPr id="911" name="TextBox 910"/>
          <p:cNvSpPr txBox="1"/>
          <p:nvPr/>
        </p:nvSpPr>
        <p:spPr>
          <a:xfrm>
            <a:off x="1409700" y="2857500"/>
            <a:ext cx="15430500" cy="685800"/>
          </a:xfrm>
          <a:prstGeom prst="rect">
            <a:avLst/>
          </a:prstGeom>
          <a:noFill/>
        </p:spPr>
        <p:txBody>
          <a:bodyPr wrap="square" lIns="0" rIns="0" tIns="0" bIns="0">
            <a:spAutoFit/>
          </a:bodyPr>
          <a:lstStyle/>
          <a:p>
            <a:pPr algn="r" rtl="1"/>
            <a:r>
              <a:rPr sz="2400" b="0" lang="ar-SA">
                <a:solidFill>
                  <a:srgbClr val="3A4170"/>
                </a:solidFill>
                <a:latin typeface="Readex Pro"/>
                <a:cs typeface="Readex Pro"/>
              </a:rPr>
              <a:t>المراجعة المستحقة، والتقدم اليومي، وخطة الورد</a:t>
            </a:r>
          </a:p>
        </p:txBody>
      </p:sp>
      <p:pic>
        <p:nvPicPr>
          <p:cNvPr id="912" name="Picture 911" descr="review3.png"/>
          <p:cNvPicPr>
            <a:picLocks noChangeAspect="1"/>
          </p:cNvPicPr>
          <p:nvPr/>
        </p:nvPicPr>
        <p:blipFill>
          <a:blip r:embed="rId5"/>
          <a:stretch>
            <a:fillRect/>
          </a:stretch>
        </p:blipFill>
        <p:spPr>
          <a:xfrm>
            <a:off x="2664000" y="3650000"/>
            <a:ext cx="12960000" cy="5400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F2F4FF"/>
                </a:solidFill>
                <a:latin typeface="Readex Pro"/>
                <a:ea typeface="Readex Pro"/>
                <a:cs typeface="Readex Pro"/>
                <a:sym typeface="Readex Pro"/>
              </a:rPr>
              <a:t>مثاني، فريق إتقان</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